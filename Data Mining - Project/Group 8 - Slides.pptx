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TT Interphases" charset="1" panose="02000503020000020004"/>
      <p:regular r:id="rId16"/>
    </p:embeddedFont>
    <p:embeddedFont>
      <p:font typeface="TT Interphases Bold" charset="1" panose="02000803060000020004"/>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28.png" Type="http://schemas.openxmlformats.org/officeDocument/2006/relationships/image"/><Relationship Id="rId7" Target="../media/image2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 Id="rId6" Target="../media/image32.png" Type="http://schemas.openxmlformats.org/officeDocument/2006/relationships/image"/><Relationship Id="rId7" Target="../media/image3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3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35.png" Type="http://schemas.openxmlformats.org/officeDocument/2006/relationships/image"/><Relationship Id="rId5" Target="../media/image36.svg" Type="http://schemas.openxmlformats.org/officeDocument/2006/relationships/image"/><Relationship Id="rId6" Target="../media/image3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40.png" Type="http://schemas.openxmlformats.org/officeDocument/2006/relationships/image"/><Relationship Id="rId5" Target="../media/image4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688068" y="1028700"/>
            <a:ext cx="7571232" cy="8229600"/>
          </a:xfrm>
          <a:custGeom>
            <a:avLst/>
            <a:gdLst/>
            <a:ahLst/>
            <a:cxnLst/>
            <a:rect r="r" b="b" t="t" l="l"/>
            <a:pathLst>
              <a:path h="8229600" w="7571232">
                <a:moveTo>
                  <a:pt x="0" y="0"/>
                </a:moveTo>
                <a:lnTo>
                  <a:pt x="7571232" y="0"/>
                </a:lnTo>
                <a:lnTo>
                  <a:pt x="7571232" y="8229600"/>
                </a:lnTo>
                <a:lnTo>
                  <a:pt x="0" y="8229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2761822"/>
            <a:ext cx="6656665" cy="4016502"/>
          </a:xfrm>
          <a:prstGeom prst="rect">
            <a:avLst/>
          </a:prstGeom>
        </p:spPr>
        <p:txBody>
          <a:bodyPr anchor="t" rtlCol="false" tIns="0" lIns="0" bIns="0" rIns="0">
            <a:spAutoFit/>
          </a:bodyPr>
          <a:lstStyle/>
          <a:p>
            <a:pPr algn="l">
              <a:lnSpc>
                <a:spcPts val="6264"/>
              </a:lnSpc>
            </a:pPr>
            <a:r>
              <a:rPr lang="en-US" sz="7200" spc="-352">
                <a:solidFill>
                  <a:srgbClr val="000000"/>
                </a:solidFill>
                <a:latin typeface="TT Interphases"/>
                <a:ea typeface="TT Interphases"/>
                <a:cs typeface="TT Interphases"/>
                <a:sym typeface="TT Interphases"/>
              </a:rPr>
              <a:t>An Evaluation of Data Mining Models for Cus</a:t>
            </a:r>
            <a:r>
              <a:rPr lang="en-US" sz="7200" spc="-352">
                <a:solidFill>
                  <a:srgbClr val="000000"/>
                </a:solidFill>
                <a:latin typeface="TT Interphases"/>
                <a:ea typeface="TT Interphases"/>
                <a:cs typeface="TT Interphases"/>
                <a:sym typeface="TT Interphases"/>
              </a:rPr>
              <a:t>tomer Churn Prediction</a:t>
            </a:r>
          </a:p>
        </p:txBody>
      </p:sp>
      <p:sp>
        <p:nvSpPr>
          <p:cNvPr name="Freeform 5" id="5"/>
          <p:cNvSpPr/>
          <p:nvPr/>
        </p:nvSpPr>
        <p:spPr>
          <a:xfrm flipH="false" flipV="false" rot="0">
            <a:off x="6400151" y="1752172"/>
            <a:ext cx="1543050" cy="1543050"/>
          </a:xfrm>
          <a:custGeom>
            <a:avLst/>
            <a:gdLst/>
            <a:ahLst/>
            <a:cxnLst/>
            <a:rect r="r" b="b" t="t" l="l"/>
            <a:pathLst>
              <a:path h="1543050" w="1543050">
                <a:moveTo>
                  <a:pt x="0" y="0"/>
                </a:moveTo>
                <a:lnTo>
                  <a:pt x="1543050" y="0"/>
                </a:lnTo>
                <a:lnTo>
                  <a:pt x="1543050" y="1543050"/>
                </a:lnTo>
                <a:lnTo>
                  <a:pt x="0" y="15430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1566219" y="1108262"/>
            <a:ext cx="3107964" cy="259461"/>
          </a:xfrm>
          <a:prstGeom prst="rect">
            <a:avLst/>
          </a:prstGeom>
        </p:spPr>
        <p:txBody>
          <a:bodyPr anchor="t" rtlCol="false" tIns="0" lIns="0" bIns="0" rIns="0">
            <a:spAutoFit/>
          </a:bodyPr>
          <a:lstStyle/>
          <a:p>
            <a:pPr algn="l">
              <a:lnSpc>
                <a:spcPts val="1827"/>
              </a:lnSpc>
            </a:pPr>
            <a:r>
              <a:rPr lang="en-US" sz="2100" spc="-102">
                <a:solidFill>
                  <a:srgbClr val="000000"/>
                </a:solidFill>
                <a:latin typeface="TT Interphases"/>
                <a:ea typeface="TT Interphases"/>
                <a:cs typeface="TT Interphases"/>
                <a:sym typeface="TT Interphases"/>
              </a:rPr>
              <a:t>Group 8 of Data Mining LC02</a:t>
            </a:r>
          </a:p>
        </p:txBody>
      </p:sp>
      <p:sp>
        <p:nvSpPr>
          <p:cNvPr name="TextBox 7" id="7"/>
          <p:cNvSpPr txBox="true"/>
          <p:nvPr/>
        </p:nvSpPr>
        <p:spPr>
          <a:xfrm rot="0">
            <a:off x="1028700" y="9063228"/>
            <a:ext cx="6790112" cy="245745"/>
          </a:xfrm>
          <a:prstGeom prst="rect">
            <a:avLst/>
          </a:prstGeom>
        </p:spPr>
        <p:txBody>
          <a:bodyPr anchor="t" rtlCol="false" tIns="0" lIns="0" bIns="0" rIns="0">
            <a:spAutoFit/>
          </a:bodyPr>
          <a:lstStyle/>
          <a:p>
            <a:pPr algn="l">
              <a:lnSpc>
                <a:spcPts val="1740"/>
              </a:lnSpc>
            </a:pPr>
            <a:r>
              <a:rPr lang="en-US" sz="2000" spc="-98">
                <a:solidFill>
                  <a:srgbClr val="000000"/>
                </a:solidFill>
                <a:latin typeface="TT Interphases"/>
                <a:ea typeface="TT Interphases"/>
                <a:cs typeface="TT Interphases"/>
                <a:sym typeface="TT Interphases"/>
              </a:rPr>
              <a:t>Lecturer: D7425 - Jaehyeon Park, B.Sc., M.Sc., Ph.D.</a:t>
            </a:r>
          </a:p>
        </p:txBody>
      </p:sp>
      <p:sp>
        <p:nvSpPr>
          <p:cNvPr name="TextBox 8" id="8"/>
          <p:cNvSpPr txBox="true"/>
          <p:nvPr/>
        </p:nvSpPr>
        <p:spPr>
          <a:xfrm rot="0">
            <a:off x="15642929" y="9063228"/>
            <a:ext cx="1616371" cy="195072"/>
          </a:xfrm>
          <a:prstGeom prst="rect">
            <a:avLst/>
          </a:prstGeom>
        </p:spPr>
        <p:txBody>
          <a:bodyPr anchor="t" rtlCol="false" tIns="0" lIns="0" bIns="0" rIns="0">
            <a:spAutoFit/>
          </a:bodyPr>
          <a:lstStyle/>
          <a:p>
            <a:pPr algn="r">
              <a:lnSpc>
                <a:spcPts val="1479"/>
              </a:lnSpc>
            </a:pPr>
            <a:r>
              <a:rPr lang="en-US" sz="1700" spc="-83">
                <a:solidFill>
                  <a:srgbClr val="000000"/>
                </a:solidFill>
                <a:latin typeface="TT Interphases"/>
                <a:ea typeface="TT Interphases"/>
                <a:cs typeface="TT Interphases"/>
                <a:sym typeface="TT Interphases"/>
              </a:rPr>
              <a:t>21 Dec, 2025</a:t>
            </a:r>
          </a:p>
        </p:txBody>
      </p:sp>
      <p:grpSp>
        <p:nvGrpSpPr>
          <p:cNvPr name="Group 9" id="9"/>
          <p:cNvGrpSpPr/>
          <p:nvPr/>
        </p:nvGrpSpPr>
        <p:grpSpPr>
          <a:xfrm rot="0">
            <a:off x="1114359" y="7059069"/>
            <a:ext cx="5794551" cy="1016412"/>
            <a:chOff x="0" y="0"/>
            <a:chExt cx="7726067" cy="1355216"/>
          </a:xfrm>
        </p:grpSpPr>
        <p:grpSp>
          <p:nvGrpSpPr>
            <p:cNvPr name="Group 10" id="10"/>
            <p:cNvGrpSpPr/>
            <p:nvPr/>
          </p:nvGrpSpPr>
          <p:grpSpPr>
            <a:xfrm rot="0">
              <a:off x="0" y="53848"/>
              <a:ext cx="317500" cy="317500"/>
              <a:chOff x="0" y="0"/>
              <a:chExt cx="846667" cy="846667"/>
            </a:xfrm>
          </p:grpSpPr>
          <p:sp>
            <p:nvSpPr>
              <p:cNvPr name="Freeform 11" id="11"/>
              <p:cNvSpPr/>
              <p:nvPr/>
            </p:nvSpPr>
            <p:spPr>
              <a:xfrm flipH="false" flipV="false" rot="0">
                <a:off x="0" y="0"/>
                <a:ext cx="846667" cy="846667"/>
              </a:xfrm>
              <a:custGeom>
                <a:avLst/>
                <a:gdLst/>
                <a:ahLst/>
                <a:cxnLst/>
                <a:rect r="r" b="b" t="t" l="l"/>
                <a:pathLst>
                  <a:path h="846667" w="846667">
                    <a:moveTo>
                      <a:pt x="423333" y="0"/>
                    </a:moveTo>
                    <a:cubicBezTo>
                      <a:pt x="189533" y="0"/>
                      <a:pt x="0" y="189533"/>
                      <a:pt x="0" y="423333"/>
                    </a:cubicBezTo>
                    <a:cubicBezTo>
                      <a:pt x="0" y="657134"/>
                      <a:pt x="189533" y="846667"/>
                      <a:pt x="423333" y="846667"/>
                    </a:cubicBezTo>
                    <a:cubicBezTo>
                      <a:pt x="657134" y="846667"/>
                      <a:pt x="846667" y="657134"/>
                      <a:pt x="846667" y="423333"/>
                    </a:cubicBezTo>
                    <a:cubicBezTo>
                      <a:pt x="846667" y="189533"/>
                      <a:pt x="657134" y="0"/>
                      <a:pt x="423333" y="0"/>
                    </a:cubicBezTo>
                    <a:close/>
                  </a:path>
                </a:pathLst>
              </a:custGeom>
              <a:solidFill>
                <a:srgbClr val="449864"/>
              </a:solidFill>
            </p:spPr>
          </p:sp>
          <p:sp>
            <p:nvSpPr>
              <p:cNvPr name="TextBox 12" id="12"/>
              <p:cNvSpPr txBox="true"/>
              <p:nvPr/>
            </p:nvSpPr>
            <p:spPr>
              <a:xfrm>
                <a:off x="79375" y="155575"/>
                <a:ext cx="687917" cy="611717"/>
              </a:xfrm>
              <a:prstGeom prst="rect">
                <a:avLst/>
              </a:prstGeom>
            </p:spPr>
            <p:txBody>
              <a:bodyPr anchor="ctr" rtlCol="false" tIns="50800" lIns="50800" bIns="50800" rIns="50800"/>
              <a:lstStyle/>
              <a:p>
                <a:pPr algn="ctr">
                  <a:lnSpc>
                    <a:spcPts val="2174"/>
                  </a:lnSpc>
                </a:pPr>
              </a:p>
            </p:txBody>
          </p:sp>
        </p:grpSp>
        <p:sp>
          <p:nvSpPr>
            <p:cNvPr name="TextBox 13" id="13"/>
            <p:cNvSpPr txBox="true"/>
            <p:nvPr/>
          </p:nvSpPr>
          <p:spPr>
            <a:xfrm rot="0">
              <a:off x="489102" y="-28575"/>
              <a:ext cx="7236965" cy="453771"/>
            </a:xfrm>
            <a:prstGeom prst="rect">
              <a:avLst/>
            </a:prstGeom>
          </p:spPr>
          <p:txBody>
            <a:bodyPr anchor="t" rtlCol="false" tIns="0" lIns="0" bIns="0" rIns="0">
              <a:spAutoFit/>
            </a:bodyPr>
            <a:lstStyle/>
            <a:p>
              <a:pPr algn="l">
                <a:lnSpc>
                  <a:spcPts val="2709"/>
                </a:lnSpc>
              </a:pPr>
              <a:r>
                <a:rPr lang="en-US" sz="2100" spc="-63">
                  <a:solidFill>
                    <a:srgbClr val="000000"/>
                  </a:solidFill>
                  <a:latin typeface="TT Interphases"/>
                  <a:ea typeface="TT Interphases"/>
                  <a:cs typeface="TT Interphases"/>
                  <a:sym typeface="TT Interphases"/>
                </a:rPr>
                <a:t>2702215946 - Fahimsyach Lokanta</a:t>
              </a:r>
            </a:p>
          </p:txBody>
        </p:sp>
        <p:sp>
          <p:nvSpPr>
            <p:cNvPr name="TextBox 14" id="14"/>
            <p:cNvSpPr txBox="true"/>
            <p:nvPr/>
          </p:nvSpPr>
          <p:spPr>
            <a:xfrm rot="0">
              <a:off x="489102" y="419354"/>
              <a:ext cx="7236965" cy="453771"/>
            </a:xfrm>
            <a:prstGeom prst="rect">
              <a:avLst/>
            </a:prstGeom>
          </p:spPr>
          <p:txBody>
            <a:bodyPr anchor="t" rtlCol="false" tIns="0" lIns="0" bIns="0" rIns="0">
              <a:spAutoFit/>
            </a:bodyPr>
            <a:lstStyle/>
            <a:p>
              <a:pPr algn="l">
                <a:lnSpc>
                  <a:spcPts val="2709"/>
                </a:lnSpc>
              </a:pPr>
              <a:r>
                <a:rPr lang="en-US" sz="2100" spc="-63">
                  <a:solidFill>
                    <a:srgbClr val="000000"/>
                  </a:solidFill>
                  <a:latin typeface="TT Interphases"/>
                  <a:ea typeface="TT Interphases"/>
                  <a:cs typeface="TT Interphases"/>
                  <a:sym typeface="TT Interphases"/>
                </a:rPr>
                <a:t>2702215605 - Christopher Nicholas Alfen</a:t>
              </a:r>
            </a:p>
          </p:txBody>
        </p:sp>
        <p:grpSp>
          <p:nvGrpSpPr>
            <p:cNvPr name="Group 15" id="15"/>
            <p:cNvGrpSpPr/>
            <p:nvPr/>
          </p:nvGrpSpPr>
          <p:grpSpPr>
            <a:xfrm rot="0">
              <a:off x="0" y="501777"/>
              <a:ext cx="317500" cy="317500"/>
              <a:chOff x="0" y="0"/>
              <a:chExt cx="846667" cy="846667"/>
            </a:xfrm>
          </p:grpSpPr>
          <p:sp>
            <p:nvSpPr>
              <p:cNvPr name="Freeform 16" id="16"/>
              <p:cNvSpPr/>
              <p:nvPr/>
            </p:nvSpPr>
            <p:spPr>
              <a:xfrm flipH="false" flipV="false" rot="0">
                <a:off x="0" y="0"/>
                <a:ext cx="846667" cy="846667"/>
              </a:xfrm>
              <a:custGeom>
                <a:avLst/>
                <a:gdLst/>
                <a:ahLst/>
                <a:cxnLst/>
                <a:rect r="r" b="b" t="t" l="l"/>
                <a:pathLst>
                  <a:path h="846667" w="846667">
                    <a:moveTo>
                      <a:pt x="423333" y="0"/>
                    </a:moveTo>
                    <a:cubicBezTo>
                      <a:pt x="189533" y="0"/>
                      <a:pt x="0" y="189533"/>
                      <a:pt x="0" y="423333"/>
                    </a:cubicBezTo>
                    <a:cubicBezTo>
                      <a:pt x="0" y="657134"/>
                      <a:pt x="189533" y="846667"/>
                      <a:pt x="423333" y="846667"/>
                    </a:cubicBezTo>
                    <a:cubicBezTo>
                      <a:pt x="657134" y="846667"/>
                      <a:pt x="846667" y="657134"/>
                      <a:pt x="846667" y="423333"/>
                    </a:cubicBezTo>
                    <a:cubicBezTo>
                      <a:pt x="846667" y="189533"/>
                      <a:pt x="657134" y="0"/>
                      <a:pt x="423333" y="0"/>
                    </a:cubicBezTo>
                    <a:close/>
                  </a:path>
                </a:pathLst>
              </a:custGeom>
              <a:solidFill>
                <a:srgbClr val="3779E3"/>
              </a:solidFill>
            </p:spPr>
          </p:sp>
          <p:sp>
            <p:nvSpPr>
              <p:cNvPr name="TextBox 17" id="17"/>
              <p:cNvSpPr txBox="true"/>
              <p:nvPr/>
            </p:nvSpPr>
            <p:spPr>
              <a:xfrm>
                <a:off x="79375" y="155575"/>
                <a:ext cx="687917" cy="611717"/>
              </a:xfrm>
              <a:prstGeom prst="rect">
                <a:avLst/>
              </a:prstGeom>
            </p:spPr>
            <p:txBody>
              <a:bodyPr anchor="ctr" rtlCol="false" tIns="50800" lIns="50800" bIns="50800" rIns="50800"/>
              <a:lstStyle/>
              <a:p>
                <a:pPr algn="ctr">
                  <a:lnSpc>
                    <a:spcPts val="2174"/>
                  </a:lnSpc>
                </a:pPr>
              </a:p>
            </p:txBody>
          </p:sp>
        </p:grpSp>
        <p:sp>
          <p:nvSpPr>
            <p:cNvPr name="TextBox 18" id="18"/>
            <p:cNvSpPr txBox="true"/>
            <p:nvPr/>
          </p:nvSpPr>
          <p:spPr>
            <a:xfrm rot="0">
              <a:off x="489102" y="901446"/>
              <a:ext cx="5742860" cy="453771"/>
            </a:xfrm>
            <a:prstGeom prst="rect">
              <a:avLst/>
            </a:prstGeom>
          </p:spPr>
          <p:txBody>
            <a:bodyPr anchor="t" rtlCol="false" tIns="0" lIns="0" bIns="0" rIns="0">
              <a:spAutoFit/>
            </a:bodyPr>
            <a:lstStyle/>
            <a:p>
              <a:pPr algn="l">
                <a:lnSpc>
                  <a:spcPts val="2709"/>
                </a:lnSpc>
              </a:pPr>
              <a:r>
                <a:rPr lang="en-US" sz="2100" spc="-63">
                  <a:solidFill>
                    <a:srgbClr val="000000"/>
                  </a:solidFill>
                  <a:latin typeface="TT Interphases"/>
                  <a:ea typeface="TT Interphases"/>
                  <a:cs typeface="TT Interphases"/>
                  <a:sym typeface="TT Interphases"/>
                </a:rPr>
                <a:t>2702351121 - Kent Putra Lamiran</a:t>
              </a:r>
            </a:p>
          </p:txBody>
        </p:sp>
        <p:grpSp>
          <p:nvGrpSpPr>
            <p:cNvPr name="Group 19" id="19"/>
            <p:cNvGrpSpPr/>
            <p:nvPr/>
          </p:nvGrpSpPr>
          <p:grpSpPr>
            <a:xfrm rot="0">
              <a:off x="0" y="983869"/>
              <a:ext cx="317500" cy="317500"/>
              <a:chOff x="0" y="0"/>
              <a:chExt cx="846667" cy="846667"/>
            </a:xfrm>
          </p:grpSpPr>
          <p:sp>
            <p:nvSpPr>
              <p:cNvPr name="Freeform 20" id="20"/>
              <p:cNvSpPr/>
              <p:nvPr/>
            </p:nvSpPr>
            <p:spPr>
              <a:xfrm flipH="false" flipV="false" rot="0">
                <a:off x="0" y="0"/>
                <a:ext cx="846667" cy="846667"/>
              </a:xfrm>
              <a:custGeom>
                <a:avLst/>
                <a:gdLst/>
                <a:ahLst/>
                <a:cxnLst/>
                <a:rect r="r" b="b" t="t" l="l"/>
                <a:pathLst>
                  <a:path h="846667" w="846667">
                    <a:moveTo>
                      <a:pt x="423333" y="0"/>
                    </a:moveTo>
                    <a:cubicBezTo>
                      <a:pt x="189533" y="0"/>
                      <a:pt x="0" y="189533"/>
                      <a:pt x="0" y="423333"/>
                    </a:cubicBezTo>
                    <a:cubicBezTo>
                      <a:pt x="0" y="657134"/>
                      <a:pt x="189533" y="846667"/>
                      <a:pt x="423333" y="846667"/>
                    </a:cubicBezTo>
                    <a:cubicBezTo>
                      <a:pt x="657134" y="846667"/>
                      <a:pt x="846667" y="657134"/>
                      <a:pt x="846667" y="423333"/>
                    </a:cubicBezTo>
                    <a:cubicBezTo>
                      <a:pt x="846667" y="189533"/>
                      <a:pt x="657134" y="0"/>
                      <a:pt x="423333" y="0"/>
                    </a:cubicBezTo>
                    <a:close/>
                  </a:path>
                </a:pathLst>
              </a:custGeom>
              <a:solidFill>
                <a:srgbClr val="E99842"/>
              </a:solidFill>
            </p:spPr>
          </p:sp>
          <p:sp>
            <p:nvSpPr>
              <p:cNvPr name="TextBox 21" id="21"/>
              <p:cNvSpPr txBox="true"/>
              <p:nvPr/>
            </p:nvSpPr>
            <p:spPr>
              <a:xfrm>
                <a:off x="79375" y="155575"/>
                <a:ext cx="687917" cy="611717"/>
              </a:xfrm>
              <a:prstGeom prst="rect">
                <a:avLst/>
              </a:prstGeom>
            </p:spPr>
            <p:txBody>
              <a:bodyPr anchor="ctr" rtlCol="false" tIns="50800" lIns="50800" bIns="50800" rIns="50800"/>
              <a:lstStyle/>
              <a:p>
                <a:pPr algn="ctr">
                  <a:lnSpc>
                    <a:spcPts val="2174"/>
                  </a:lnSpc>
                </a:pPr>
              </a:p>
            </p:txBody>
          </p:sp>
        </p:gr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2245076"/>
            <a:ext cx="7548480" cy="7013224"/>
          </a:xfrm>
          <a:custGeom>
            <a:avLst/>
            <a:gdLst/>
            <a:ahLst/>
            <a:cxnLst/>
            <a:rect r="r" b="b" t="t" l="l"/>
            <a:pathLst>
              <a:path h="7013224" w="7548480">
                <a:moveTo>
                  <a:pt x="0" y="0"/>
                </a:moveTo>
                <a:lnTo>
                  <a:pt x="7548480" y="0"/>
                </a:lnTo>
                <a:lnTo>
                  <a:pt x="7548480" y="7013224"/>
                </a:lnTo>
                <a:lnTo>
                  <a:pt x="0" y="70132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16035449" y="1028700"/>
            <a:ext cx="1223851" cy="847795"/>
          </a:xfrm>
          <a:custGeom>
            <a:avLst/>
            <a:gdLst/>
            <a:ahLst/>
            <a:cxnLst/>
            <a:rect r="r" b="b" t="t" l="l"/>
            <a:pathLst>
              <a:path h="847795" w="1223851">
                <a:moveTo>
                  <a:pt x="1223851" y="0"/>
                </a:moveTo>
                <a:lnTo>
                  <a:pt x="0" y="0"/>
                </a:lnTo>
                <a:lnTo>
                  <a:pt x="0" y="847795"/>
                </a:lnTo>
                <a:lnTo>
                  <a:pt x="1223851" y="847795"/>
                </a:lnTo>
                <a:lnTo>
                  <a:pt x="122385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0252294" y="2750290"/>
            <a:ext cx="6234058" cy="1054610"/>
          </a:xfrm>
          <a:prstGeom prst="rect">
            <a:avLst/>
          </a:prstGeom>
        </p:spPr>
        <p:txBody>
          <a:bodyPr anchor="t" rtlCol="false" tIns="0" lIns="0" bIns="0" rIns="0">
            <a:spAutoFit/>
          </a:bodyPr>
          <a:lstStyle/>
          <a:p>
            <a:pPr algn="l">
              <a:lnSpc>
                <a:spcPts val="7656"/>
              </a:lnSpc>
            </a:pPr>
            <a:r>
              <a:rPr lang="en-US" sz="8800" spc="-431">
                <a:solidFill>
                  <a:srgbClr val="000000"/>
                </a:solidFill>
                <a:latin typeface="TT Interphases"/>
                <a:ea typeface="TT Interphases"/>
                <a:cs typeface="TT Interphases"/>
                <a:sym typeface="TT Interphases"/>
              </a:rPr>
              <a:t>Introduction</a:t>
            </a:r>
          </a:p>
        </p:txBody>
      </p:sp>
      <p:sp>
        <p:nvSpPr>
          <p:cNvPr name="TextBox 6" id="6"/>
          <p:cNvSpPr txBox="true"/>
          <p:nvPr/>
        </p:nvSpPr>
        <p:spPr>
          <a:xfrm rot="0">
            <a:off x="10328561" y="3944478"/>
            <a:ext cx="7223096" cy="5199380"/>
          </a:xfrm>
          <a:prstGeom prst="rect">
            <a:avLst/>
          </a:prstGeom>
        </p:spPr>
        <p:txBody>
          <a:bodyPr anchor="t" rtlCol="false" tIns="0" lIns="0" bIns="0" rIns="0">
            <a:spAutoFit/>
          </a:bodyPr>
          <a:lstStyle/>
          <a:p>
            <a:pPr algn="just">
              <a:lnSpc>
                <a:spcPts val="3219"/>
              </a:lnSpc>
            </a:pPr>
            <a:r>
              <a:rPr lang="en-US" sz="2299" spc="-112">
                <a:solidFill>
                  <a:srgbClr val="000000"/>
                </a:solidFill>
                <a:latin typeface="TT Interphases"/>
                <a:ea typeface="TT Interphases"/>
                <a:cs typeface="TT Interphases"/>
                <a:sym typeface="TT Interphases"/>
              </a:rPr>
              <a:t>Customer churn is a significant challenge in the telecommunications industry, where customers can easily switch between service providers. Retaining existing customers is generally more cost-effective than acquiring new ones, making early identification of potential churners an important business objective. </a:t>
            </a:r>
          </a:p>
          <a:p>
            <a:pPr algn="just">
              <a:lnSpc>
                <a:spcPts val="3219"/>
              </a:lnSpc>
            </a:pPr>
          </a:p>
          <a:p>
            <a:pPr algn="just">
              <a:lnSpc>
                <a:spcPts val="3219"/>
              </a:lnSpc>
            </a:pPr>
            <a:r>
              <a:rPr lang="en-US" sz="2299" spc="-112">
                <a:solidFill>
                  <a:srgbClr val="000000"/>
                </a:solidFill>
                <a:latin typeface="TT Interphases"/>
                <a:ea typeface="TT Interphases"/>
                <a:cs typeface="TT Interphases"/>
                <a:sym typeface="TT Interphases"/>
              </a:rPr>
              <a:t>With the increasing availability of customer data, data mining techniques have become a practical approach for analyzing customer behavior and supporting predictive decision-making. By learning patterns from historical customer records, data mining models can assist organizations in anticipating churn and designing targeted retention strategies.</a:t>
            </a:r>
          </a:p>
        </p:txBody>
      </p:sp>
      <p:sp>
        <p:nvSpPr>
          <p:cNvPr name="TextBox 7" id="7"/>
          <p:cNvSpPr txBox="true"/>
          <p:nvPr/>
        </p:nvSpPr>
        <p:spPr>
          <a:xfrm rot="0">
            <a:off x="1566219" y="1108262"/>
            <a:ext cx="3107964" cy="259461"/>
          </a:xfrm>
          <a:prstGeom prst="rect">
            <a:avLst/>
          </a:prstGeom>
        </p:spPr>
        <p:txBody>
          <a:bodyPr anchor="t" rtlCol="false" tIns="0" lIns="0" bIns="0" rIns="0">
            <a:spAutoFit/>
          </a:bodyPr>
          <a:lstStyle/>
          <a:p>
            <a:pPr algn="l">
              <a:lnSpc>
                <a:spcPts val="1827"/>
              </a:lnSpc>
            </a:pPr>
            <a:r>
              <a:rPr lang="en-US" sz="2100" spc="-102">
                <a:solidFill>
                  <a:srgbClr val="000000"/>
                </a:solidFill>
                <a:latin typeface="TT Interphases"/>
                <a:ea typeface="TT Interphases"/>
                <a:cs typeface="TT Interphases"/>
                <a:sym typeface="TT Interphases"/>
              </a:rPr>
              <a:t>Group 8 of Data Mining LC02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167951" y="3560654"/>
            <a:ext cx="4276122" cy="3941807"/>
          </a:xfrm>
          <a:custGeom>
            <a:avLst/>
            <a:gdLst/>
            <a:ahLst/>
            <a:cxnLst/>
            <a:rect r="r" b="b" t="t" l="l"/>
            <a:pathLst>
              <a:path h="3941807" w="4276122">
                <a:moveTo>
                  <a:pt x="0" y="0"/>
                </a:moveTo>
                <a:lnTo>
                  <a:pt x="4276122" y="0"/>
                </a:lnTo>
                <a:lnTo>
                  <a:pt x="4276122" y="3941806"/>
                </a:lnTo>
                <a:lnTo>
                  <a:pt x="0" y="39418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5076170" y="-184836"/>
            <a:ext cx="969594" cy="3396666"/>
          </a:xfrm>
          <a:custGeom>
            <a:avLst/>
            <a:gdLst/>
            <a:ahLst/>
            <a:cxnLst/>
            <a:rect r="r" b="b" t="t" l="l"/>
            <a:pathLst>
              <a:path h="3396666" w="969594">
                <a:moveTo>
                  <a:pt x="0" y="0"/>
                </a:moveTo>
                <a:lnTo>
                  <a:pt x="969594" y="0"/>
                </a:lnTo>
                <a:lnTo>
                  <a:pt x="969594" y="3396666"/>
                </a:lnTo>
                <a:lnTo>
                  <a:pt x="0" y="33966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952433" y="2734845"/>
            <a:ext cx="4180398" cy="1054610"/>
          </a:xfrm>
          <a:prstGeom prst="rect">
            <a:avLst/>
          </a:prstGeom>
        </p:spPr>
        <p:txBody>
          <a:bodyPr anchor="t" rtlCol="false" tIns="0" lIns="0" bIns="0" rIns="0">
            <a:spAutoFit/>
          </a:bodyPr>
          <a:lstStyle/>
          <a:p>
            <a:pPr algn="l">
              <a:lnSpc>
                <a:spcPts val="7656"/>
              </a:lnSpc>
            </a:pPr>
            <a:r>
              <a:rPr lang="en-US" sz="8800" spc="-431">
                <a:solidFill>
                  <a:srgbClr val="000000"/>
                </a:solidFill>
                <a:latin typeface="TT Interphases"/>
                <a:ea typeface="TT Interphases"/>
                <a:cs typeface="TT Interphases"/>
                <a:sym typeface="TT Interphases"/>
              </a:rPr>
              <a:t>Problem</a:t>
            </a:r>
          </a:p>
        </p:txBody>
      </p:sp>
      <p:sp>
        <p:nvSpPr>
          <p:cNvPr name="TextBox 6" id="6"/>
          <p:cNvSpPr txBox="true"/>
          <p:nvPr/>
        </p:nvSpPr>
        <p:spPr>
          <a:xfrm rot="0">
            <a:off x="1030002" y="4099154"/>
            <a:ext cx="5400670" cy="4287520"/>
          </a:xfrm>
          <a:prstGeom prst="rect">
            <a:avLst/>
          </a:prstGeom>
        </p:spPr>
        <p:txBody>
          <a:bodyPr anchor="t" rtlCol="false" tIns="0" lIns="0" bIns="0" rIns="0">
            <a:spAutoFit/>
          </a:bodyPr>
          <a:lstStyle/>
          <a:p>
            <a:pPr algn="just">
              <a:lnSpc>
                <a:spcPts val="3079"/>
              </a:lnSpc>
            </a:pPr>
            <a:r>
              <a:rPr lang="en-US" sz="2199" spc="-107">
                <a:solidFill>
                  <a:srgbClr val="000000"/>
                </a:solidFill>
                <a:latin typeface="TT Interphases"/>
                <a:ea typeface="TT Interphases"/>
                <a:cs typeface="TT Interphases"/>
                <a:sym typeface="TT Interphases"/>
              </a:rPr>
              <a:t>Customer churn prediction is challenging due to class imbalance, where churned customers represent a minority compared to non-churn customers. In such cases, evaluation metrics like accuracy can be misleading, as models may appear effective while failing to correctly identify churn cases.</a:t>
            </a:r>
          </a:p>
          <a:p>
            <a:pPr algn="just" marL="474979" indent="-237490" lvl="1">
              <a:lnSpc>
                <a:spcPts val="3079"/>
              </a:lnSpc>
              <a:buFont typeface="Arial"/>
              <a:buChar char="•"/>
            </a:pPr>
            <a:r>
              <a:rPr lang="en-US" sz="2199" spc="-107">
                <a:solidFill>
                  <a:srgbClr val="000000"/>
                </a:solidFill>
                <a:latin typeface="TT Interphases"/>
                <a:ea typeface="TT Interphases"/>
                <a:cs typeface="TT Interphases"/>
                <a:sym typeface="TT Interphases"/>
              </a:rPr>
              <a:t>Churn events are significantly under-represented in the dataset</a:t>
            </a:r>
          </a:p>
          <a:p>
            <a:pPr algn="just" marL="474979" indent="-237490" lvl="1">
              <a:lnSpc>
                <a:spcPts val="3079"/>
              </a:lnSpc>
              <a:buFont typeface="Arial"/>
              <a:buChar char="•"/>
            </a:pPr>
            <a:r>
              <a:rPr lang="en-US" sz="2199" spc="-107">
                <a:solidFill>
                  <a:srgbClr val="000000"/>
                </a:solidFill>
                <a:latin typeface="TT Interphases"/>
                <a:ea typeface="TT Interphases"/>
                <a:cs typeface="TT Interphases"/>
                <a:sym typeface="TT Interphases"/>
              </a:rPr>
              <a:t>High accuracy does not guarantee effective churn detection</a:t>
            </a:r>
          </a:p>
        </p:txBody>
      </p:sp>
      <p:sp>
        <p:nvSpPr>
          <p:cNvPr name="TextBox 7" id="7"/>
          <p:cNvSpPr txBox="true"/>
          <p:nvPr/>
        </p:nvSpPr>
        <p:spPr>
          <a:xfrm rot="0">
            <a:off x="7100826" y="4099154"/>
            <a:ext cx="5396973" cy="4287520"/>
          </a:xfrm>
          <a:prstGeom prst="rect">
            <a:avLst/>
          </a:prstGeom>
        </p:spPr>
        <p:txBody>
          <a:bodyPr anchor="t" rtlCol="false" tIns="0" lIns="0" bIns="0" rIns="0">
            <a:spAutoFit/>
          </a:bodyPr>
          <a:lstStyle/>
          <a:p>
            <a:pPr algn="just">
              <a:lnSpc>
                <a:spcPts val="3079"/>
              </a:lnSpc>
            </a:pPr>
            <a:r>
              <a:rPr lang="en-US" sz="2199" spc="-107">
                <a:solidFill>
                  <a:srgbClr val="000000"/>
                </a:solidFill>
                <a:latin typeface="TT Interphases"/>
                <a:ea typeface="TT Interphases"/>
                <a:cs typeface="TT Interphases"/>
                <a:sym typeface="TT Interphases"/>
              </a:rPr>
              <a:t>Customer churn prediction is challenging due to class imbalance, where churned customers represent a minority compared to non-churn customers. In such cases, evaluation metrics like accuracy can be misleading, as models may appear effective while failing to correctly identify churn cases.</a:t>
            </a:r>
          </a:p>
          <a:p>
            <a:pPr algn="l" marL="474979" indent="-237490" lvl="1">
              <a:lnSpc>
                <a:spcPts val="3079"/>
              </a:lnSpc>
              <a:buFont typeface="Arial"/>
              <a:buChar char="•"/>
            </a:pPr>
            <a:r>
              <a:rPr lang="en-US" sz="2199" spc="-107">
                <a:solidFill>
                  <a:srgbClr val="000000"/>
                </a:solidFill>
                <a:latin typeface="TT Interphases"/>
                <a:ea typeface="TT Interphases"/>
                <a:cs typeface="TT Interphases"/>
                <a:sym typeface="TT Interphases"/>
              </a:rPr>
              <a:t>Churn events are significantly underrepresented in the dataset</a:t>
            </a:r>
          </a:p>
          <a:p>
            <a:pPr algn="l" marL="474979" indent="-237490" lvl="1">
              <a:lnSpc>
                <a:spcPts val="3079"/>
              </a:lnSpc>
              <a:buFont typeface="Arial"/>
              <a:buChar char="•"/>
            </a:pPr>
            <a:r>
              <a:rPr lang="en-US" sz="2199" spc="-107">
                <a:solidFill>
                  <a:srgbClr val="000000"/>
                </a:solidFill>
                <a:latin typeface="TT Interphases"/>
                <a:ea typeface="TT Interphases"/>
                <a:cs typeface="TT Interphases"/>
                <a:sym typeface="TT Interphases"/>
              </a:rPr>
              <a:t>High accuracy does not guarantee effective churn detection</a:t>
            </a:r>
          </a:p>
        </p:txBody>
      </p:sp>
      <p:sp>
        <p:nvSpPr>
          <p:cNvPr name="TextBox 8" id="8"/>
          <p:cNvSpPr txBox="true"/>
          <p:nvPr/>
        </p:nvSpPr>
        <p:spPr>
          <a:xfrm rot="0">
            <a:off x="1566219" y="1108262"/>
            <a:ext cx="3107964" cy="259461"/>
          </a:xfrm>
          <a:prstGeom prst="rect">
            <a:avLst/>
          </a:prstGeom>
        </p:spPr>
        <p:txBody>
          <a:bodyPr anchor="t" rtlCol="false" tIns="0" lIns="0" bIns="0" rIns="0">
            <a:spAutoFit/>
          </a:bodyPr>
          <a:lstStyle/>
          <a:p>
            <a:pPr algn="l">
              <a:lnSpc>
                <a:spcPts val="1827"/>
              </a:lnSpc>
            </a:pPr>
            <a:r>
              <a:rPr lang="en-US" sz="2100" spc="-102">
                <a:solidFill>
                  <a:srgbClr val="000000"/>
                </a:solidFill>
                <a:latin typeface="TT Interphases"/>
                <a:ea typeface="TT Interphases"/>
                <a:cs typeface="TT Interphases"/>
                <a:sym typeface="TT Interphases"/>
              </a:rPr>
              <a:t>Group 8 of Data Mining LC02</a:t>
            </a:r>
          </a:p>
        </p:txBody>
      </p:sp>
      <p:sp>
        <p:nvSpPr>
          <p:cNvPr name="TextBox 9" id="9"/>
          <p:cNvSpPr txBox="true"/>
          <p:nvPr/>
        </p:nvSpPr>
        <p:spPr>
          <a:xfrm rot="0">
            <a:off x="7024558" y="2734845"/>
            <a:ext cx="4892223" cy="1054610"/>
          </a:xfrm>
          <a:prstGeom prst="rect">
            <a:avLst/>
          </a:prstGeom>
        </p:spPr>
        <p:txBody>
          <a:bodyPr anchor="t" rtlCol="false" tIns="0" lIns="0" bIns="0" rIns="0">
            <a:spAutoFit/>
          </a:bodyPr>
          <a:lstStyle/>
          <a:p>
            <a:pPr algn="l">
              <a:lnSpc>
                <a:spcPts val="7656"/>
              </a:lnSpc>
            </a:pPr>
            <a:r>
              <a:rPr lang="en-US" sz="8800" spc="-431">
                <a:solidFill>
                  <a:srgbClr val="000000"/>
                </a:solidFill>
                <a:latin typeface="TT Interphases"/>
                <a:ea typeface="TT Interphases"/>
                <a:cs typeface="TT Interphases"/>
                <a:sym typeface="TT Interphases"/>
              </a:rPr>
              <a:t>Objectives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4436789"/>
            <a:ext cx="5642194" cy="4821511"/>
          </a:xfrm>
          <a:custGeom>
            <a:avLst/>
            <a:gdLst/>
            <a:ahLst/>
            <a:cxnLst/>
            <a:rect r="r" b="b" t="t" l="l"/>
            <a:pathLst>
              <a:path h="4821511" w="5642194">
                <a:moveTo>
                  <a:pt x="0" y="0"/>
                </a:moveTo>
                <a:lnTo>
                  <a:pt x="5642194" y="0"/>
                </a:lnTo>
                <a:lnTo>
                  <a:pt x="5642194" y="4821511"/>
                </a:lnTo>
                <a:lnTo>
                  <a:pt x="0" y="48215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902505" y="3479551"/>
            <a:ext cx="729305" cy="566206"/>
          </a:xfrm>
          <a:custGeom>
            <a:avLst/>
            <a:gdLst/>
            <a:ahLst/>
            <a:cxnLst/>
            <a:rect r="r" b="b" t="t" l="l"/>
            <a:pathLst>
              <a:path h="566206" w="729305">
                <a:moveTo>
                  <a:pt x="0" y="0"/>
                </a:moveTo>
                <a:lnTo>
                  <a:pt x="729306" y="0"/>
                </a:lnTo>
                <a:lnTo>
                  <a:pt x="729306" y="566206"/>
                </a:lnTo>
                <a:lnTo>
                  <a:pt x="0" y="5662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true" rot="0">
            <a:off x="16822619" y="1028700"/>
            <a:ext cx="436681" cy="339023"/>
          </a:xfrm>
          <a:custGeom>
            <a:avLst/>
            <a:gdLst/>
            <a:ahLst/>
            <a:cxnLst/>
            <a:rect r="r" b="b" t="t" l="l"/>
            <a:pathLst>
              <a:path h="339023" w="436681">
                <a:moveTo>
                  <a:pt x="436681" y="339023"/>
                </a:moveTo>
                <a:lnTo>
                  <a:pt x="0" y="339023"/>
                </a:lnTo>
                <a:lnTo>
                  <a:pt x="0" y="0"/>
                </a:lnTo>
                <a:lnTo>
                  <a:pt x="436681" y="0"/>
                </a:lnTo>
                <a:lnTo>
                  <a:pt x="436681" y="33902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028700" y="1580992"/>
            <a:ext cx="5417067" cy="2464765"/>
          </a:xfrm>
          <a:custGeom>
            <a:avLst/>
            <a:gdLst/>
            <a:ahLst/>
            <a:cxnLst/>
            <a:rect r="r" b="b" t="t" l="l"/>
            <a:pathLst>
              <a:path h="2464765" w="5417067">
                <a:moveTo>
                  <a:pt x="0" y="0"/>
                </a:moveTo>
                <a:lnTo>
                  <a:pt x="5417067" y="0"/>
                </a:lnTo>
                <a:lnTo>
                  <a:pt x="5417067" y="2464765"/>
                </a:lnTo>
                <a:lnTo>
                  <a:pt x="0" y="2464765"/>
                </a:lnTo>
                <a:lnTo>
                  <a:pt x="0" y="0"/>
                </a:lnTo>
                <a:close/>
              </a:path>
            </a:pathLst>
          </a:custGeom>
          <a:blipFill>
            <a:blip r:embed="rId10"/>
            <a:stretch>
              <a:fillRect l="0" t="0" r="0" b="0"/>
            </a:stretch>
          </a:blipFill>
        </p:spPr>
      </p:sp>
      <p:sp>
        <p:nvSpPr>
          <p:cNvPr name="TextBox 7" id="7"/>
          <p:cNvSpPr txBox="true"/>
          <p:nvPr/>
        </p:nvSpPr>
        <p:spPr>
          <a:xfrm rot="0">
            <a:off x="9401321" y="1653473"/>
            <a:ext cx="7639639" cy="2026160"/>
          </a:xfrm>
          <a:prstGeom prst="rect">
            <a:avLst/>
          </a:prstGeom>
        </p:spPr>
        <p:txBody>
          <a:bodyPr anchor="t" rtlCol="false" tIns="0" lIns="0" bIns="0" rIns="0">
            <a:spAutoFit/>
          </a:bodyPr>
          <a:lstStyle/>
          <a:p>
            <a:pPr algn="l">
              <a:lnSpc>
                <a:spcPts val="7656"/>
              </a:lnSpc>
            </a:pPr>
            <a:r>
              <a:rPr lang="en-US" sz="8800" spc="-431">
                <a:solidFill>
                  <a:srgbClr val="000000"/>
                </a:solidFill>
                <a:latin typeface="TT Interphases"/>
                <a:ea typeface="TT Interphases"/>
                <a:cs typeface="TT Interphases"/>
                <a:sym typeface="TT Interphases"/>
              </a:rPr>
              <a:t>Dataset: Telco Customer Churn</a:t>
            </a:r>
          </a:p>
        </p:txBody>
      </p:sp>
      <p:sp>
        <p:nvSpPr>
          <p:cNvPr name="TextBox 8" id="8"/>
          <p:cNvSpPr txBox="true"/>
          <p:nvPr/>
        </p:nvSpPr>
        <p:spPr>
          <a:xfrm rot="0">
            <a:off x="6983118" y="5177790"/>
            <a:ext cx="4769158" cy="3337560"/>
          </a:xfrm>
          <a:prstGeom prst="rect">
            <a:avLst/>
          </a:prstGeom>
        </p:spPr>
        <p:txBody>
          <a:bodyPr anchor="t" rtlCol="false" tIns="0" lIns="0" bIns="0" rIns="0">
            <a:spAutoFit/>
          </a:bodyPr>
          <a:lstStyle/>
          <a:p>
            <a:pPr algn="just">
              <a:lnSpc>
                <a:spcPts val="2940"/>
              </a:lnSpc>
            </a:pPr>
            <a:r>
              <a:rPr lang="en-US" sz="2100" spc="-102">
                <a:solidFill>
                  <a:srgbClr val="000000"/>
                </a:solidFill>
                <a:latin typeface="TT Interphases"/>
                <a:ea typeface="TT Interphases"/>
                <a:cs typeface="TT Interphases"/>
                <a:sym typeface="TT Interphases"/>
              </a:rPr>
              <a:t>The study uses the Telco Customer Churn dataset, which contains customer-level information from a telecommunications service provider. The dataset is widely used in data mining studies and provides a realistic setting for analyzing churn behavior.</a:t>
            </a:r>
          </a:p>
          <a:p>
            <a:pPr algn="just" marL="453390" indent="-226695" lvl="1">
              <a:lnSpc>
                <a:spcPts val="2940"/>
              </a:lnSpc>
              <a:buFont typeface="Arial"/>
              <a:buChar char="•"/>
            </a:pPr>
            <a:r>
              <a:rPr lang="en-US" sz="2100" spc="-102">
                <a:solidFill>
                  <a:srgbClr val="000000"/>
                </a:solidFill>
                <a:latin typeface="TT Interphases"/>
                <a:ea typeface="TT Interphases"/>
                <a:cs typeface="TT Interphases"/>
                <a:sym typeface="TT Interphases"/>
              </a:rPr>
              <a:t>7,043 customer records</a:t>
            </a:r>
          </a:p>
          <a:p>
            <a:pPr algn="just" marL="453390" indent="-226695" lvl="1">
              <a:lnSpc>
                <a:spcPts val="2940"/>
              </a:lnSpc>
              <a:buFont typeface="Arial"/>
              <a:buChar char="•"/>
            </a:pPr>
            <a:r>
              <a:rPr lang="en-US" sz="2100" spc="-102">
                <a:solidFill>
                  <a:srgbClr val="000000"/>
                </a:solidFill>
                <a:latin typeface="TT Interphases"/>
                <a:ea typeface="TT Interphases"/>
                <a:cs typeface="TT Interphases"/>
                <a:sym typeface="TT Interphases"/>
              </a:rPr>
              <a:t>Binary target variable: “Churn”</a:t>
            </a:r>
          </a:p>
          <a:p>
            <a:pPr algn="just" marL="453390" indent="-226695" lvl="1">
              <a:lnSpc>
                <a:spcPts val="2940"/>
              </a:lnSpc>
              <a:buFont typeface="Arial"/>
              <a:buChar char="•"/>
            </a:pPr>
            <a:r>
              <a:rPr lang="en-US" sz="2100" spc="-102">
                <a:solidFill>
                  <a:srgbClr val="000000"/>
                </a:solidFill>
                <a:latin typeface="TT Interphases"/>
                <a:ea typeface="TT Interphases"/>
                <a:cs typeface="TT Interphases"/>
                <a:sym typeface="TT Interphases"/>
              </a:rPr>
              <a:t>Public dataset obtained from Kaggle</a:t>
            </a:r>
          </a:p>
        </p:txBody>
      </p:sp>
      <p:sp>
        <p:nvSpPr>
          <p:cNvPr name="TextBox 9" id="9"/>
          <p:cNvSpPr txBox="true"/>
          <p:nvPr/>
        </p:nvSpPr>
        <p:spPr>
          <a:xfrm rot="0">
            <a:off x="6983118" y="4680806"/>
            <a:ext cx="2836600" cy="398780"/>
          </a:xfrm>
          <a:prstGeom prst="rect">
            <a:avLst/>
          </a:prstGeom>
        </p:spPr>
        <p:txBody>
          <a:bodyPr anchor="t" rtlCol="false" tIns="0" lIns="0" bIns="0" rIns="0">
            <a:spAutoFit/>
          </a:bodyPr>
          <a:lstStyle/>
          <a:p>
            <a:pPr algn="l">
              <a:lnSpc>
                <a:spcPts val="3219"/>
              </a:lnSpc>
            </a:pPr>
            <a:r>
              <a:rPr lang="en-US" sz="2299" spc="-112" b="true">
                <a:solidFill>
                  <a:srgbClr val="000000"/>
                </a:solidFill>
                <a:latin typeface="TT Interphases Bold"/>
                <a:ea typeface="TT Interphases Bold"/>
                <a:cs typeface="TT Interphases Bold"/>
                <a:sym typeface="TT Interphases Bold"/>
              </a:rPr>
              <a:t>Dataset Overview</a:t>
            </a:r>
          </a:p>
        </p:txBody>
      </p:sp>
      <p:sp>
        <p:nvSpPr>
          <p:cNvPr name="TextBox 10" id="10"/>
          <p:cNvSpPr txBox="true"/>
          <p:nvPr/>
        </p:nvSpPr>
        <p:spPr>
          <a:xfrm rot="0">
            <a:off x="12066602" y="4680806"/>
            <a:ext cx="2836600" cy="398780"/>
          </a:xfrm>
          <a:prstGeom prst="rect">
            <a:avLst/>
          </a:prstGeom>
        </p:spPr>
        <p:txBody>
          <a:bodyPr anchor="t" rtlCol="false" tIns="0" lIns="0" bIns="0" rIns="0">
            <a:spAutoFit/>
          </a:bodyPr>
          <a:lstStyle/>
          <a:p>
            <a:pPr algn="l">
              <a:lnSpc>
                <a:spcPts val="3219"/>
              </a:lnSpc>
            </a:pPr>
            <a:r>
              <a:rPr lang="en-US" sz="2299" spc="-112" b="true">
                <a:solidFill>
                  <a:srgbClr val="000000"/>
                </a:solidFill>
                <a:latin typeface="TT Interphases Bold"/>
                <a:ea typeface="TT Interphases Bold"/>
                <a:cs typeface="TT Interphases Bold"/>
                <a:sym typeface="TT Interphases Bold"/>
              </a:rPr>
              <a:t>Soft Skills</a:t>
            </a:r>
          </a:p>
        </p:txBody>
      </p:sp>
      <p:sp>
        <p:nvSpPr>
          <p:cNvPr name="TextBox 11" id="11"/>
          <p:cNvSpPr txBox="true"/>
          <p:nvPr/>
        </p:nvSpPr>
        <p:spPr>
          <a:xfrm rot="0">
            <a:off x="12066602" y="5177790"/>
            <a:ext cx="5192698" cy="4080510"/>
          </a:xfrm>
          <a:prstGeom prst="rect">
            <a:avLst/>
          </a:prstGeom>
        </p:spPr>
        <p:txBody>
          <a:bodyPr anchor="t" rtlCol="false" tIns="0" lIns="0" bIns="0" rIns="0">
            <a:spAutoFit/>
          </a:bodyPr>
          <a:lstStyle/>
          <a:p>
            <a:pPr algn="just">
              <a:lnSpc>
                <a:spcPts val="2940"/>
              </a:lnSpc>
            </a:pPr>
            <a:r>
              <a:rPr lang="en-US" sz="2100" spc="-102">
                <a:solidFill>
                  <a:srgbClr val="000000"/>
                </a:solidFill>
                <a:latin typeface="TT Interphases"/>
                <a:ea typeface="TT Interphases"/>
                <a:cs typeface="TT Interphases"/>
                <a:sym typeface="TT Interphases"/>
              </a:rPr>
              <a:t>The dataset includes a mix of demographic, service-related, and billing attributes. Most features are categorical, which requires appropriate preprocessing and feature representation before model training.</a:t>
            </a:r>
          </a:p>
          <a:p>
            <a:pPr algn="just" marL="453390" indent="-226695" lvl="1">
              <a:lnSpc>
                <a:spcPts val="2940"/>
              </a:lnSpc>
              <a:buFont typeface="Arial"/>
              <a:buChar char="•"/>
            </a:pPr>
            <a:r>
              <a:rPr lang="en-US" sz="2100" spc="-102">
                <a:solidFill>
                  <a:srgbClr val="000000"/>
                </a:solidFill>
                <a:latin typeface="TT Interphases"/>
                <a:ea typeface="TT Interphases"/>
                <a:cs typeface="TT Interphases"/>
                <a:sym typeface="TT Interphases"/>
              </a:rPr>
              <a:t>Demographic features (e.g., gender, senior citizen)</a:t>
            </a:r>
          </a:p>
          <a:p>
            <a:pPr algn="just" marL="453390" indent="-226695" lvl="1">
              <a:lnSpc>
                <a:spcPts val="2940"/>
              </a:lnSpc>
              <a:buFont typeface="Arial"/>
              <a:buChar char="•"/>
            </a:pPr>
            <a:r>
              <a:rPr lang="en-US" sz="2100" spc="-102">
                <a:solidFill>
                  <a:srgbClr val="000000"/>
                </a:solidFill>
                <a:latin typeface="TT Interphases"/>
                <a:ea typeface="TT Interphases"/>
                <a:cs typeface="TT Interphases"/>
                <a:sym typeface="TT Interphases"/>
              </a:rPr>
              <a:t>Service usage and subscription details</a:t>
            </a:r>
          </a:p>
          <a:p>
            <a:pPr algn="just" marL="453390" indent="-226695" lvl="1">
              <a:lnSpc>
                <a:spcPts val="2940"/>
              </a:lnSpc>
              <a:buFont typeface="Arial"/>
              <a:buChar char="•"/>
            </a:pPr>
            <a:r>
              <a:rPr lang="en-US" sz="2100" spc="-102">
                <a:solidFill>
                  <a:srgbClr val="000000"/>
                </a:solidFill>
                <a:latin typeface="TT Interphases"/>
                <a:ea typeface="TT Interphases"/>
                <a:cs typeface="TT Interphases"/>
                <a:sym typeface="TT Interphases"/>
              </a:rPr>
              <a:t>Contract type and billing information</a:t>
            </a:r>
          </a:p>
          <a:p>
            <a:pPr algn="just" marL="453390" indent="-226695" lvl="1">
              <a:lnSpc>
                <a:spcPts val="2940"/>
              </a:lnSpc>
              <a:buFont typeface="Arial"/>
              <a:buChar char="•"/>
            </a:pPr>
            <a:r>
              <a:rPr lang="en-US" sz="2100" spc="-102">
                <a:solidFill>
                  <a:srgbClr val="000000"/>
                </a:solidFill>
                <a:latin typeface="TT Interphases"/>
                <a:ea typeface="TT Interphases"/>
                <a:cs typeface="TT Interphases"/>
                <a:sym typeface="TT Interphases"/>
              </a:rPr>
              <a:t>Imbalanced class distribution between churn and non-churn customers</a:t>
            </a:r>
          </a:p>
        </p:txBody>
      </p:sp>
      <p:sp>
        <p:nvSpPr>
          <p:cNvPr name="TextBox 12" id="12"/>
          <p:cNvSpPr txBox="true"/>
          <p:nvPr/>
        </p:nvSpPr>
        <p:spPr>
          <a:xfrm rot="0">
            <a:off x="1566219" y="1108262"/>
            <a:ext cx="3107964" cy="259461"/>
          </a:xfrm>
          <a:prstGeom prst="rect">
            <a:avLst/>
          </a:prstGeom>
        </p:spPr>
        <p:txBody>
          <a:bodyPr anchor="t" rtlCol="false" tIns="0" lIns="0" bIns="0" rIns="0">
            <a:spAutoFit/>
          </a:bodyPr>
          <a:lstStyle/>
          <a:p>
            <a:pPr algn="l">
              <a:lnSpc>
                <a:spcPts val="1827"/>
              </a:lnSpc>
            </a:pPr>
            <a:r>
              <a:rPr lang="en-US" sz="2100" spc="-102">
                <a:solidFill>
                  <a:srgbClr val="000000"/>
                </a:solidFill>
                <a:latin typeface="TT Interphases"/>
                <a:ea typeface="TT Interphases"/>
                <a:cs typeface="TT Interphases"/>
                <a:sym typeface="TT Interphases"/>
              </a:rPr>
              <a:t>Group 8 of Data Mining LC02</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881790" y="1938011"/>
            <a:ext cx="7434401" cy="4636363"/>
          </a:xfrm>
          <a:custGeom>
            <a:avLst/>
            <a:gdLst/>
            <a:ahLst/>
            <a:cxnLst/>
            <a:rect r="r" b="b" t="t" l="l"/>
            <a:pathLst>
              <a:path h="4636363" w="7434401">
                <a:moveTo>
                  <a:pt x="0" y="0"/>
                </a:moveTo>
                <a:lnTo>
                  <a:pt x="7434401" y="0"/>
                </a:lnTo>
                <a:lnTo>
                  <a:pt x="7434401" y="4636363"/>
                </a:lnTo>
                <a:lnTo>
                  <a:pt x="0" y="46363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717142" y="4577210"/>
            <a:ext cx="735454" cy="437261"/>
          </a:xfrm>
          <a:custGeom>
            <a:avLst/>
            <a:gdLst/>
            <a:ahLst/>
            <a:cxnLst/>
            <a:rect r="r" b="b" t="t" l="l"/>
            <a:pathLst>
              <a:path h="437261" w="735454">
                <a:moveTo>
                  <a:pt x="0" y="0"/>
                </a:moveTo>
                <a:lnTo>
                  <a:pt x="735454" y="0"/>
                </a:lnTo>
                <a:lnTo>
                  <a:pt x="735454" y="437261"/>
                </a:lnTo>
                <a:lnTo>
                  <a:pt x="0" y="437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028700" y="7430412"/>
            <a:ext cx="6234058" cy="2026160"/>
          </a:xfrm>
          <a:prstGeom prst="rect">
            <a:avLst/>
          </a:prstGeom>
        </p:spPr>
        <p:txBody>
          <a:bodyPr anchor="t" rtlCol="false" tIns="0" lIns="0" bIns="0" rIns="0">
            <a:spAutoFit/>
          </a:bodyPr>
          <a:lstStyle/>
          <a:p>
            <a:pPr algn="l">
              <a:lnSpc>
                <a:spcPts val="7656"/>
              </a:lnSpc>
            </a:pPr>
            <a:r>
              <a:rPr lang="en-US" sz="8800" spc="-431">
                <a:solidFill>
                  <a:srgbClr val="000000"/>
                </a:solidFill>
                <a:latin typeface="TT Interphases"/>
                <a:ea typeface="TT Interphases"/>
                <a:cs typeface="TT Interphases"/>
                <a:sym typeface="TT Interphases"/>
              </a:rPr>
              <a:t>Methodology Overview</a:t>
            </a:r>
          </a:p>
        </p:txBody>
      </p:sp>
      <p:sp>
        <p:nvSpPr>
          <p:cNvPr name="TextBox 6" id="6"/>
          <p:cNvSpPr txBox="true"/>
          <p:nvPr/>
        </p:nvSpPr>
        <p:spPr>
          <a:xfrm rot="0">
            <a:off x="10717142" y="1582150"/>
            <a:ext cx="6542158" cy="2510790"/>
          </a:xfrm>
          <a:prstGeom prst="rect">
            <a:avLst/>
          </a:prstGeom>
        </p:spPr>
        <p:txBody>
          <a:bodyPr anchor="t" rtlCol="false" tIns="0" lIns="0" bIns="0" rIns="0">
            <a:spAutoFit/>
          </a:bodyPr>
          <a:lstStyle/>
          <a:p>
            <a:pPr algn="just">
              <a:lnSpc>
                <a:spcPts val="3359"/>
              </a:lnSpc>
            </a:pPr>
            <a:r>
              <a:rPr lang="en-US" sz="2399" spc="-117">
                <a:solidFill>
                  <a:srgbClr val="000000"/>
                </a:solidFill>
                <a:latin typeface="TT Interphases"/>
                <a:ea typeface="TT Interphases"/>
                <a:cs typeface="TT Interphases"/>
                <a:sym typeface="TT Interphases"/>
              </a:rPr>
              <a:t>The methodology begins with data preprocessing to prepare the Telco Customer Churn dataset for analysis. This step ensures data quality by cleaning inconsistent v</a:t>
            </a:r>
            <a:r>
              <a:rPr lang="en-US" sz="2399" spc="-117">
                <a:solidFill>
                  <a:srgbClr val="000000"/>
                </a:solidFill>
                <a:latin typeface="TT Interphases"/>
                <a:ea typeface="TT Interphases"/>
                <a:cs typeface="TT Interphases"/>
                <a:sym typeface="TT Interphases"/>
              </a:rPr>
              <a:t>alues, removing non-informative attributes, and transforming the target variable into a binary format suitable for supervised classification.</a:t>
            </a:r>
          </a:p>
        </p:txBody>
      </p:sp>
      <p:sp>
        <p:nvSpPr>
          <p:cNvPr name="TextBox 7" id="7"/>
          <p:cNvSpPr txBox="true"/>
          <p:nvPr/>
        </p:nvSpPr>
        <p:spPr>
          <a:xfrm rot="0">
            <a:off x="10717142" y="5441592"/>
            <a:ext cx="6542158" cy="3348990"/>
          </a:xfrm>
          <a:prstGeom prst="rect">
            <a:avLst/>
          </a:prstGeom>
        </p:spPr>
        <p:txBody>
          <a:bodyPr anchor="t" rtlCol="false" tIns="0" lIns="0" bIns="0" rIns="0">
            <a:spAutoFit/>
          </a:bodyPr>
          <a:lstStyle/>
          <a:p>
            <a:pPr algn="just">
              <a:lnSpc>
                <a:spcPts val="3359"/>
              </a:lnSpc>
            </a:pPr>
            <a:r>
              <a:rPr lang="en-US" sz="2399" spc="-117">
                <a:solidFill>
                  <a:srgbClr val="000000"/>
                </a:solidFill>
                <a:latin typeface="TT Interphases"/>
                <a:ea typeface="TT Interphases"/>
                <a:cs typeface="TT Interphases"/>
                <a:sym typeface="TT Interphases"/>
              </a:rPr>
              <a:t>Given the large number of categorical attributes in the dataset, feature representation plays an important role. Categorical features are transformed into numerical representations to enable model training, while numerical features are retained to preserve meaningful information. These steps ensure that all data mining models operate on a consistent and comparable feature space.</a:t>
            </a:r>
          </a:p>
        </p:txBody>
      </p:sp>
      <p:sp>
        <p:nvSpPr>
          <p:cNvPr name="TextBox 8" id="8"/>
          <p:cNvSpPr txBox="true"/>
          <p:nvPr/>
        </p:nvSpPr>
        <p:spPr>
          <a:xfrm rot="0">
            <a:off x="1566219" y="1108262"/>
            <a:ext cx="3107964" cy="259461"/>
          </a:xfrm>
          <a:prstGeom prst="rect">
            <a:avLst/>
          </a:prstGeom>
        </p:spPr>
        <p:txBody>
          <a:bodyPr anchor="t" rtlCol="false" tIns="0" lIns="0" bIns="0" rIns="0">
            <a:spAutoFit/>
          </a:bodyPr>
          <a:lstStyle/>
          <a:p>
            <a:pPr algn="l">
              <a:lnSpc>
                <a:spcPts val="1827"/>
              </a:lnSpc>
            </a:pPr>
            <a:r>
              <a:rPr lang="en-US" sz="2100" spc="-102">
                <a:solidFill>
                  <a:srgbClr val="000000"/>
                </a:solidFill>
                <a:latin typeface="TT Interphases"/>
                <a:ea typeface="TT Interphases"/>
                <a:cs typeface="TT Interphases"/>
                <a:sym typeface="TT Interphases"/>
              </a:rPr>
              <a:t>Group 8 of Data Mining LC02</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359490" y="7943301"/>
            <a:ext cx="291723" cy="202084"/>
          </a:xfrm>
          <a:custGeom>
            <a:avLst/>
            <a:gdLst/>
            <a:ahLst/>
            <a:cxnLst/>
            <a:rect r="r" b="b" t="t" l="l"/>
            <a:pathLst>
              <a:path h="202084" w="291723">
                <a:moveTo>
                  <a:pt x="0" y="0"/>
                </a:moveTo>
                <a:lnTo>
                  <a:pt x="291723" y="0"/>
                </a:lnTo>
                <a:lnTo>
                  <a:pt x="291723" y="202084"/>
                </a:lnTo>
                <a:lnTo>
                  <a:pt x="0" y="2020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3442140"/>
            <a:ext cx="7193539" cy="2026160"/>
          </a:xfrm>
          <a:prstGeom prst="rect">
            <a:avLst/>
          </a:prstGeom>
        </p:spPr>
        <p:txBody>
          <a:bodyPr anchor="t" rtlCol="false" tIns="0" lIns="0" bIns="0" rIns="0">
            <a:spAutoFit/>
          </a:bodyPr>
          <a:lstStyle/>
          <a:p>
            <a:pPr algn="l">
              <a:lnSpc>
                <a:spcPts val="7656"/>
              </a:lnSpc>
            </a:pPr>
            <a:r>
              <a:rPr lang="en-US" sz="8800" spc="-431">
                <a:solidFill>
                  <a:srgbClr val="000000"/>
                </a:solidFill>
                <a:latin typeface="TT Interphases"/>
                <a:ea typeface="TT Interphases"/>
                <a:cs typeface="TT Interphases"/>
                <a:sym typeface="TT Interphases"/>
              </a:rPr>
              <a:t>Data Mining Process</a:t>
            </a:r>
          </a:p>
        </p:txBody>
      </p:sp>
      <p:sp>
        <p:nvSpPr>
          <p:cNvPr name="TextBox 5" id="5"/>
          <p:cNvSpPr txBox="true"/>
          <p:nvPr/>
        </p:nvSpPr>
        <p:spPr>
          <a:xfrm rot="0">
            <a:off x="1028700" y="7186930"/>
            <a:ext cx="5125918" cy="2111375"/>
          </a:xfrm>
          <a:prstGeom prst="rect">
            <a:avLst/>
          </a:prstGeom>
        </p:spPr>
        <p:txBody>
          <a:bodyPr anchor="t" rtlCol="false" tIns="0" lIns="0" bIns="0" rIns="0">
            <a:spAutoFit/>
          </a:bodyPr>
          <a:lstStyle/>
          <a:p>
            <a:pPr algn="just">
              <a:lnSpc>
                <a:spcPts val="2800"/>
              </a:lnSpc>
            </a:pPr>
            <a:r>
              <a:rPr lang="en-US" sz="2000" spc="-98">
                <a:solidFill>
                  <a:srgbClr val="000000"/>
                </a:solidFill>
                <a:latin typeface="TT Interphases"/>
                <a:ea typeface="TT Interphases"/>
                <a:cs typeface="TT Interphases"/>
                <a:sym typeface="TT Interphases"/>
              </a:rPr>
              <a:t>Five data mining classification models are selected to represent different learning paradigms, including linear, probabilistic, instance-based, margin-based, and tree-based approaches. Each model is evaluated to understand its effectiveness in customer churn prediction.</a:t>
            </a:r>
          </a:p>
        </p:txBody>
      </p:sp>
      <p:sp>
        <p:nvSpPr>
          <p:cNvPr name="TextBox 6" id="6"/>
          <p:cNvSpPr txBox="true"/>
          <p:nvPr/>
        </p:nvSpPr>
        <p:spPr>
          <a:xfrm rot="0">
            <a:off x="1028700" y="6563523"/>
            <a:ext cx="4664358" cy="415290"/>
          </a:xfrm>
          <a:prstGeom prst="rect">
            <a:avLst/>
          </a:prstGeom>
        </p:spPr>
        <p:txBody>
          <a:bodyPr anchor="t" rtlCol="false" tIns="0" lIns="0" bIns="0" rIns="0">
            <a:spAutoFit/>
          </a:bodyPr>
          <a:lstStyle/>
          <a:p>
            <a:pPr algn="l">
              <a:lnSpc>
                <a:spcPts val="3359"/>
              </a:lnSpc>
            </a:pPr>
            <a:r>
              <a:rPr lang="en-US" sz="2399" spc="-117" b="true">
                <a:solidFill>
                  <a:srgbClr val="000000"/>
                </a:solidFill>
                <a:latin typeface="TT Interphases Bold"/>
                <a:ea typeface="TT Interphases Bold"/>
                <a:cs typeface="TT Interphases Bold"/>
                <a:sym typeface="TT Interphases Bold"/>
              </a:rPr>
              <a:t>Model Selection</a:t>
            </a:r>
          </a:p>
        </p:txBody>
      </p:sp>
      <p:sp>
        <p:nvSpPr>
          <p:cNvPr name="TextBox 7" id="7"/>
          <p:cNvSpPr txBox="true"/>
          <p:nvPr/>
        </p:nvSpPr>
        <p:spPr>
          <a:xfrm rot="0">
            <a:off x="7022993" y="7186930"/>
            <a:ext cx="4833981" cy="2111375"/>
          </a:xfrm>
          <a:prstGeom prst="rect">
            <a:avLst/>
          </a:prstGeom>
        </p:spPr>
        <p:txBody>
          <a:bodyPr anchor="t" rtlCol="false" tIns="0" lIns="0" bIns="0" rIns="0">
            <a:spAutoFit/>
          </a:bodyPr>
          <a:lstStyle/>
          <a:p>
            <a:pPr algn="just">
              <a:lnSpc>
                <a:spcPts val="2800"/>
              </a:lnSpc>
            </a:pPr>
            <a:r>
              <a:rPr lang="en-US" sz="2000" spc="-98">
                <a:solidFill>
                  <a:srgbClr val="000000"/>
                </a:solidFill>
                <a:latin typeface="TT Interphases"/>
                <a:ea typeface="TT Interphases"/>
                <a:cs typeface="TT Interphases"/>
                <a:sym typeface="TT Interphases"/>
              </a:rPr>
              <a:t>The dataset is divided into training and testing subsets using a stratified approach to preserve class distribution. All models are trained and evaluated using the same data partitions to ensure fair and consistent comparison between baseline and improved configurations.</a:t>
            </a:r>
          </a:p>
        </p:txBody>
      </p:sp>
      <p:sp>
        <p:nvSpPr>
          <p:cNvPr name="TextBox 8" id="8"/>
          <p:cNvSpPr txBox="true"/>
          <p:nvPr/>
        </p:nvSpPr>
        <p:spPr>
          <a:xfrm rot="0">
            <a:off x="7022993" y="6563523"/>
            <a:ext cx="4468041" cy="415290"/>
          </a:xfrm>
          <a:prstGeom prst="rect">
            <a:avLst/>
          </a:prstGeom>
        </p:spPr>
        <p:txBody>
          <a:bodyPr anchor="t" rtlCol="false" tIns="0" lIns="0" bIns="0" rIns="0">
            <a:spAutoFit/>
          </a:bodyPr>
          <a:lstStyle/>
          <a:p>
            <a:pPr algn="l">
              <a:lnSpc>
                <a:spcPts val="3359"/>
              </a:lnSpc>
            </a:pPr>
            <a:r>
              <a:rPr lang="en-US" sz="2399" spc="-117" b="true">
                <a:solidFill>
                  <a:srgbClr val="000000"/>
                </a:solidFill>
                <a:latin typeface="TT Interphases Bold"/>
                <a:ea typeface="TT Interphases Bold"/>
                <a:cs typeface="TT Interphases Bold"/>
                <a:sym typeface="TT Interphases Bold"/>
              </a:rPr>
              <a:t>Experimental Setup</a:t>
            </a:r>
          </a:p>
        </p:txBody>
      </p:sp>
      <p:sp>
        <p:nvSpPr>
          <p:cNvPr name="TextBox 9" id="9"/>
          <p:cNvSpPr txBox="true"/>
          <p:nvPr/>
        </p:nvSpPr>
        <p:spPr>
          <a:xfrm rot="0">
            <a:off x="12701299" y="7186930"/>
            <a:ext cx="4558001" cy="2111375"/>
          </a:xfrm>
          <a:prstGeom prst="rect">
            <a:avLst/>
          </a:prstGeom>
        </p:spPr>
        <p:txBody>
          <a:bodyPr anchor="t" rtlCol="false" tIns="0" lIns="0" bIns="0" rIns="0">
            <a:spAutoFit/>
          </a:bodyPr>
          <a:lstStyle/>
          <a:p>
            <a:pPr algn="just">
              <a:lnSpc>
                <a:spcPts val="2800"/>
              </a:lnSpc>
            </a:pPr>
            <a:r>
              <a:rPr lang="en-US" sz="2000" spc="-98">
                <a:solidFill>
                  <a:srgbClr val="000000"/>
                </a:solidFill>
                <a:latin typeface="TT Interphases"/>
                <a:ea typeface="TT Interphases"/>
                <a:cs typeface="TT Interphases"/>
                <a:sym typeface="TT Interphases"/>
              </a:rPr>
              <a:t>Model performance is evaluated using metrics suitable for imbalanced classification problems. While accuracy is reported for reference, greater emphasis is placed on F1-score and ROC-AUC to assess both decision quality and class discrimination ability.</a:t>
            </a:r>
          </a:p>
        </p:txBody>
      </p:sp>
      <p:sp>
        <p:nvSpPr>
          <p:cNvPr name="TextBox 10" id="10"/>
          <p:cNvSpPr txBox="true"/>
          <p:nvPr/>
        </p:nvSpPr>
        <p:spPr>
          <a:xfrm rot="0">
            <a:off x="12701299" y="6563523"/>
            <a:ext cx="4424498" cy="415290"/>
          </a:xfrm>
          <a:prstGeom prst="rect">
            <a:avLst/>
          </a:prstGeom>
        </p:spPr>
        <p:txBody>
          <a:bodyPr anchor="t" rtlCol="false" tIns="0" lIns="0" bIns="0" rIns="0">
            <a:spAutoFit/>
          </a:bodyPr>
          <a:lstStyle/>
          <a:p>
            <a:pPr algn="l">
              <a:lnSpc>
                <a:spcPts val="3359"/>
              </a:lnSpc>
            </a:pPr>
            <a:r>
              <a:rPr lang="en-US" sz="2399" spc="-117" b="true">
                <a:solidFill>
                  <a:srgbClr val="000000"/>
                </a:solidFill>
                <a:latin typeface="TT Interphases Bold"/>
                <a:ea typeface="TT Interphases Bold"/>
                <a:cs typeface="TT Interphases Bold"/>
                <a:sym typeface="TT Interphases Bold"/>
              </a:rPr>
              <a:t>Evaluation Criteria</a:t>
            </a:r>
          </a:p>
        </p:txBody>
      </p:sp>
      <p:sp>
        <p:nvSpPr>
          <p:cNvPr name="Freeform 11" id="11"/>
          <p:cNvSpPr/>
          <p:nvPr/>
        </p:nvSpPr>
        <p:spPr>
          <a:xfrm flipH="false" flipV="false" rot="0">
            <a:off x="12133275" y="7943301"/>
            <a:ext cx="291723" cy="202084"/>
          </a:xfrm>
          <a:custGeom>
            <a:avLst/>
            <a:gdLst/>
            <a:ahLst/>
            <a:cxnLst/>
            <a:rect r="r" b="b" t="t" l="l"/>
            <a:pathLst>
              <a:path h="202084" w="291723">
                <a:moveTo>
                  <a:pt x="0" y="0"/>
                </a:moveTo>
                <a:lnTo>
                  <a:pt x="291723" y="0"/>
                </a:lnTo>
                <a:lnTo>
                  <a:pt x="291723" y="202084"/>
                </a:lnTo>
                <a:lnTo>
                  <a:pt x="0" y="2020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0110854" y="1028700"/>
            <a:ext cx="7148446" cy="4185090"/>
          </a:xfrm>
          <a:custGeom>
            <a:avLst/>
            <a:gdLst/>
            <a:ahLst/>
            <a:cxnLst/>
            <a:rect r="r" b="b" t="t" l="l"/>
            <a:pathLst>
              <a:path h="4185090" w="7148446">
                <a:moveTo>
                  <a:pt x="0" y="0"/>
                </a:moveTo>
                <a:lnTo>
                  <a:pt x="7148446" y="0"/>
                </a:lnTo>
                <a:lnTo>
                  <a:pt x="7148446" y="4185090"/>
                </a:lnTo>
                <a:lnTo>
                  <a:pt x="0" y="418509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3" id="13"/>
          <p:cNvSpPr txBox="true"/>
          <p:nvPr/>
        </p:nvSpPr>
        <p:spPr>
          <a:xfrm rot="0">
            <a:off x="1566219" y="1108262"/>
            <a:ext cx="3107964" cy="259461"/>
          </a:xfrm>
          <a:prstGeom prst="rect">
            <a:avLst/>
          </a:prstGeom>
        </p:spPr>
        <p:txBody>
          <a:bodyPr anchor="t" rtlCol="false" tIns="0" lIns="0" bIns="0" rIns="0">
            <a:spAutoFit/>
          </a:bodyPr>
          <a:lstStyle/>
          <a:p>
            <a:pPr algn="l">
              <a:lnSpc>
                <a:spcPts val="1827"/>
              </a:lnSpc>
            </a:pPr>
            <a:r>
              <a:rPr lang="en-US" sz="2100" spc="-102">
                <a:solidFill>
                  <a:srgbClr val="000000"/>
                </a:solidFill>
                <a:latin typeface="TT Interphases"/>
                <a:ea typeface="TT Interphases"/>
                <a:cs typeface="TT Interphases"/>
                <a:sym typeface="TT Interphases"/>
              </a:rPr>
              <a:t>Group 8 of Data Mining LC02</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6291108"/>
            <a:ext cx="7934582" cy="2597062"/>
          </a:xfrm>
          <a:custGeom>
            <a:avLst/>
            <a:gdLst/>
            <a:ahLst/>
            <a:cxnLst/>
            <a:rect r="r" b="b" t="t" l="l"/>
            <a:pathLst>
              <a:path h="2597062" w="7934582">
                <a:moveTo>
                  <a:pt x="0" y="0"/>
                </a:moveTo>
                <a:lnTo>
                  <a:pt x="7934582" y="0"/>
                </a:lnTo>
                <a:lnTo>
                  <a:pt x="7934582" y="2597062"/>
                </a:lnTo>
                <a:lnTo>
                  <a:pt x="0" y="2597062"/>
                </a:lnTo>
                <a:lnTo>
                  <a:pt x="0" y="0"/>
                </a:lnTo>
                <a:close/>
              </a:path>
            </a:pathLst>
          </a:custGeom>
          <a:blipFill>
            <a:blip r:embed="rId4"/>
            <a:stretch>
              <a:fillRect l="0" t="0" r="0" b="0"/>
            </a:stretch>
          </a:blipFill>
        </p:spPr>
      </p:sp>
      <p:sp>
        <p:nvSpPr>
          <p:cNvPr name="TextBox 4" id="4"/>
          <p:cNvSpPr txBox="true"/>
          <p:nvPr/>
        </p:nvSpPr>
        <p:spPr>
          <a:xfrm rot="0">
            <a:off x="1028700" y="3179307"/>
            <a:ext cx="8115300" cy="2026160"/>
          </a:xfrm>
          <a:prstGeom prst="rect">
            <a:avLst/>
          </a:prstGeom>
        </p:spPr>
        <p:txBody>
          <a:bodyPr anchor="t" rtlCol="false" tIns="0" lIns="0" bIns="0" rIns="0">
            <a:spAutoFit/>
          </a:bodyPr>
          <a:lstStyle/>
          <a:p>
            <a:pPr algn="l">
              <a:lnSpc>
                <a:spcPts val="7656"/>
              </a:lnSpc>
            </a:pPr>
            <a:r>
              <a:rPr lang="en-US" sz="8800" spc="-431">
                <a:solidFill>
                  <a:srgbClr val="000000"/>
                </a:solidFill>
                <a:latin typeface="TT Interphases"/>
                <a:ea typeface="TT Interphases"/>
                <a:cs typeface="TT Interphases"/>
                <a:sym typeface="TT Interphases"/>
              </a:rPr>
              <a:t>Evaluation (Baseline Models)</a:t>
            </a:r>
          </a:p>
        </p:txBody>
      </p:sp>
      <p:sp>
        <p:nvSpPr>
          <p:cNvPr name="TextBox 5" id="5"/>
          <p:cNvSpPr txBox="true"/>
          <p:nvPr/>
        </p:nvSpPr>
        <p:spPr>
          <a:xfrm rot="0">
            <a:off x="9644234" y="3345824"/>
            <a:ext cx="7643111" cy="1406525"/>
          </a:xfrm>
          <a:prstGeom prst="rect">
            <a:avLst/>
          </a:prstGeom>
        </p:spPr>
        <p:txBody>
          <a:bodyPr anchor="t" rtlCol="false" tIns="0" lIns="0" bIns="0" rIns="0">
            <a:spAutoFit/>
          </a:bodyPr>
          <a:lstStyle/>
          <a:p>
            <a:pPr algn="just">
              <a:lnSpc>
                <a:spcPts val="2800"/>
              </a:lnSpc>
            </a:pPr>
            <a:r>
              <a:rPr lang="en-US" sz="2000" spc="-98">
                <a:solidFill>
                  <a:srgbClr val="000000"/>
                </a:solidFill>
                <a:latin typeface="TT Interphases"/>
                <a:ea typeface="TT Interphases"/>
                <a:cs typeface="TT Interphases"/>
                <a:sym typeface="TT Interphases"/>
              </a:rPr>
              <a:t>Support Vector Machine and Logistic Regression achieve high recall values (</a:t>
            </a:r>
            <a:r>
              <a:rPr lang="en-US" b="true" sz="2000" spc="-98">
                <a:solidFill>
                  <a:srgbClr val="000000"/>
                </a:solidFill>
                <a:latin typeface="TT Interphases Bold"/>
                <a:ea typeface="TT Interphases Bold"/>
                <a:cs typeface="TT Interphases Bold"/>
                <a:sym typeface="TT Interphases Bold"/>
              </a:rPr>
              <a:t>0.761</a:t>
            </a:r>
            <a:r>
              <a:rPr lang="en-US" sz="2000" spc="-98">
                <a:solidFill>
                  <a:srgbClr val="000000"/>
                </a:solidFill>
                <a:latin typeface="TT Interphases"/>
                <a:ea typeface="TT Interphases"/>
                <a:cs typeface="TT Interphases"/>
                <a:sym typeface="TT Interphases"/>
              </a:rPr>
              <a:t> and </a:t>
            </a:r>
            <a:r>
              <a:rPr lang="en-US" b="true" sz="2000" spc="-98">
                <a:solidFill>
                  <a:srgbClr val="000000"/>
                </a:solidFill>
                <a:latin typeface="TT Interphases Bold"/>
                <a:ea typeface="TT Interphases Bold"/>
                <a:cs typeface="TT Interphases Bold"/>
                <a:sym typeface="TT Interphases Bold"/>
              </a:rPr>
              <a:t>0.734</a:t>
            </a:r>
            <a:r>
              <a:rPr lang="en-US" sz="2000" spc="-98">
                <a:solidFill>
                  <a:srgbClr val="000000"/>
                </a:solidFill>
                <a:latin typeface="TT Interphases"/>
                <a:ea typeface="TT Interphases"/>
                <a:cs typeface="TT Interphases"/>
                <a:sym typeface="TT Interphases"/>
              </a:rPr>
              <a:t>, respectively), indicating strong churn detection. However, their low precision (both below </a:t>
            </a:r>
            <a:r>
              <a:rPr lang="en-US" b="true" sz="2000" spc="-98">
                <a:solidFill>
                  <a:srgbClr val="000000"/>
                </a:solidFill>
                <a:latin typeface="TT Interphases Bold"/>
                <a:ea typeface="TT Interphases Bold"/>
                <a:cs typeface="TT Interphases Bold"/>
                <a:sym typeface="TT Interphases Bold"/>
              </a:rPr>
              <a:t>0.50</a:t>
            </a:r>
            <a:r>
              <a:rPr lang="en-US" sz="2000" spc="-98">
                <a:solidFill>
                  <a:srgbClr val="000000"/>
                </a:solidFill>
                <a:latin typeface="TT Interphases"/>
                <a:ea typeface="TT Interphases"/>
                <a:cs typeface="TT Interphases"/>
                <a:sym typeface="TT Interphases"/>
              </a:rPr>
              <a:t>) results in moderate F1-scores (</a:t>
            </a:r>
            <a:r>
              <a:rPr lang="en-US" b="true" sz="2000" spc="-98">
                <a:solidFill>
                  <a:srgbClr val="000000"/>
                </a:solidFill>
                <a:latin typeface="TT Interphases Bold"/>
                <a:ea typeface="TT Interphases Bold"/>
                <a:cs typeface="TT Interphases Bold"/>
                <a:sym typeface="TT Interphases Bold"/>
              </a:rPr>
              <a:t>0.597</a:t>
            </a:r>
            <a:r>
              <a:rPr lang="en-US" sz="2000" spc="-98">
                <a:solidFill>
                  <a:srgbClr val="000000"/>
                </a:solidFill>
                <a:latin typeface="TT Interphases"/>
                <a:ea typeface="TT Interphases"/>
                <a:cs typeface="TT Interphases"/>
                <a:sym typeface="TT Interphases"/>
              </a:rPr>
              <a:t> and </a:t>
            </a:r>
            <a:r>
              <a:rPr lang="en-US" b="true" sz="2000" spc="-98">
                <a:solidFill>
                  <a:srgbClr val="000000"/>
                </a:solidFill>
                <a:latin typeface="TT Interphases Bold"/>
                <a:ea typeface="TT Interphases Bold"/>
                <a:cs typeface="TT Interphases Bold"/>
                <a:sym typeface="TT Interphases Bold"/>
              </a:rPr>
              <a:t>0.581</a:t>
            </a:r>
            <a:r>
              <a:rPr lang="en-US" sz="2000" spc="-98">
                <a:solidFill>
                  <a:srgbClr val="000000"/>
                </a:solidFill>
                <a:latin typeface="TT Interphases"/>
                <a:ea typeface="TT Interphases"/>
                <a:cs typeface="TT Interphases"/>
                <a:sym typeface="TT Interphases"/>
              </a:rPr>
              <a:t>), reflecting a high number of false positives.</a:t>
            </a:r>
          </a:p>
        </p:txBody>
      </p:sp>
      <p:sp>
        <p:nvSpPr>
          <p:cNvPr name="TextBox 6" id="6"/>
          <p:cNvSpPr txBox="true"/>
          <p:nvPr/>
        </p:nvSpPr>
        <p:spPr>
          <a:xfrm rot="0">
            <a:off x="9644234" y="2857990"/>
            <a:ext cx="7629089" cy="349250"/>
          </a:xfrm>
          <a:prstGeom prst="rect">
            <a:avLst/>
          </a:prstGeom>
        </p:spPr>
        <p:txBody>
          <a:bodyPr anchor="t" rtlCol="false" tIns="0" lIns="0" bIns="0" rIns="0">
            <a:spAutoFit/>
          </a:bodyPr>
          <a:lstStyle/>
          <a:p>
            <a:pPr algn="just">
              <a:lnSpc>
                <a:spcPts val="2800"/>
              </a:lnSpc>
            </a:pPr>
            <a:r>
              <a:rPr lang="en-US" b="true" sz="2000" spc="-98">
                <a:solidFill>
                  <a:srgbClr val="000000"/>
                </a:solidFill>
                <a:latin typeface="TT Interphases Bold"/>
                <a:ea typeface="TT Interphases Bold"/>
                <a:cs typeface="TT Interphases Bold"/>
                <a:sym typeface="TT Interphases Bold"/>
              </a:rPr>
              <a:t>High Recall, Low Precision Models</a:t>
            </a:r>
          </a:p>
        </p:txBody>
      </p:sp>
      <p:sp>
        <p:nvSpPr>
          <p:cNvPr name="TextBox 7" id="7"/>
          <p:cNvSpPr txBox="true"/>
          <p:nvPr/>
        </p:nvSpPr>
        <p:spPr>
          <a:xfrm rot="0">
            <a:off x="9630211" y="5564033"/>
            <a:ext cx="7657134" cy="1406525"/>
          </a:xfrm>
          <a:prstGeom prst="rect">
            <a:avLst/>
          </a:prstGeom>
        </p:spPr>
        <p:txBody>
          <a:bodyPr anchor="t" rtlCol="false" tIns="0" lIns="0" bIns="0" rIns="0">
            <a:spAutoFit/>
          </a:bodyPr>
          <a:lstStyle/>
          <a:p>
            <a:pPr algn="just">
              <a:lnSpc>
                <a:spcPts val="2800"/>
              </a:lnSpc>
            </a:pPr>
            <a:r>
              <a:rPr lang="en-US" sz="2000" spc="-98">
                <a:solidFill>
                  <a:srgbClr val="000000"/>
                </a:solidFill>
                <a:latin typeface="TT Interphases"/>
                <a:ea typeface="TT Interphases"/>
                <a:cs typeface="TT Interphases"/>
                <a:sym typeface="TT Interphases"/>
              </a:rPr>
              <a:t>Support Vector Machine and Logistic Regression achieve high recall values (0.761 and 0.734, respectively), indicating strong churn detection. However, their low precision (both below 0.50) results in moderate F1-scores (0.597 and 0.581), reflecting a high number of false positives.</a:t>
            </a:r>
          </a:p>
        </p:txBody>
      </p:sp>
      <p:sp>
        <p:nvSpPr>
          <p:cNvPr name="TextBox 8" id="8"/>
          <p:cNvSpPr txBox="true"/>
          <p:nvPr/>
        </p:nvSpPr>
        <p:spPr>
          <a:xfrm rot="0">
            <a:off x="9630211" y="5076199"/>
            <a:ext cx="7657134" cy="349250"/>
          </a:xfrm>
          <a:prstGeom prst="rect">
            <a:avLst/>
          </a:prstGeom>
        </p:spPr>
        <p:txBody>
          <a:bodyPr anchor="t" rtlCol="false" tIns="0" lIns="0" bIns="0" rIns="0">
            <a:spAutoFit/>
          </a:bodyPr>
          <a:lstStyle/>
          <a:p>
            <a:pPr algn="just">
              <a:lnSpc>
                <a:spcPts val="2800"/>
              </a:lnSpc>
            </a:pPr>
            <a:r>
              <a:rPr lang="en-US" b="true" sz="2000" spc="-98">
                <a:solidFill>
                  <a:srgbClr val="000000"/>
                </a:solidFill>
                <a:latin typeface="TT Interphases Bold"/>
                <a:ea typeface="TT Interphases Bold"/>
                <a:cs typeface="TT Interphases Bold"/>
                <a:sym typeface="TT Interphases Bold"/>
              </a:rPr>
              <a:t>Ensemble Models at Baseline</a:t>
            </a:r>
          </a:p>
        </p:txBody>
      </p:sp>
      <p:sp>
        <p:nvSpPr>
          <p:cNvPr name="TextBox 9" id="9"/>
          <p:cNvSpPr txBox="true"/>
          <p:nvPr/>
        </p:nvSpPr>
        <p:spPr>
          <a:xfrm rot="0">
            <a:off x="9602166" y="7777480"/>
            <a:ext cx="7671157" cy="1054100"/>
          </a:xfrm>
          <a:prstGeom prst="rect">
            <a:avLst/>
          </a:prstGeom>
        </p:spPr>
        <p:txBody>
          <a:bodyPr anchor="t" rtlCol="false" tIns="0" lIns="0" bIns="0" rIns="0">
            <a:spAutoFit/>
          </a:bodyPr>
          <a:lstStyle/>
          <a:p>
            <a:pPr algn="just">
              <a:lnSpc>
                <a:spcPts val="2800"/>
              </a:lnSpc>
            </a:pPr>
            <a:r>
              <a:rPr lang="en-US" sz="2000" spc="-98">
                <a:solidFill>
                  <a:srgbClr val="000000"/>
                </a:solidFill>
                <a:latin typeface="TT Interphases"/>
                <a:ea typeface="TT Interphases"/>
                <a:cs typeface="TT Interphases"/>
                <a:sym typeface="TT Interphases"/>
              </a:rPr>
              <a:t>Decision Tree shows the weakest baseline performance, with the lowest F1-score (</a:t>
            </a:r>
            <a:r>
              <a:rPr lang="en-US" b="true" sz="2000" spc="-98">
                <a:solidFill>
                  <a:srgbClr val="000000"/>
                </a:solidFill>
                <a:latin typeface="TT Interphases Bold"/>
                <a:ea typeface="TT Interphases Bold"/>
                <a:cs typeface="TT Interphases Bold"/>
                <a:sym typeface="TT Interphases Bold"/>
              </a:rPr>
              <a:t>0.498</a:t>
            </a:r>
            <a:r>
              <a:rPr lang="en-US" sz="2000" spc="-98">
                <a:solidFill>
                  <a:srgbClr val="000000"/>
                </a:solidFill>
                <a:latin typeface="TT Interphases"/>
                <a:ea typeface="TT Interphases"/>
                <a:cs typeface="TT Interphases"/>
                <a:sym typeface="TT Interphases"/>
              </a:rPr>
              <a:t>) and ROC-AUC (</a:t>
            </a:r>
            <a:r>
              <a:rPr lang="en-US" b="true" sz="2000" spc="-98">
                <a:solidFill>
                  <a:srgbClr val="000000"/>
                </a:solidFill>
                <a:latin typeface="TT Interphases Bold"/>
                <a:ea typeface="TT Interphases Bold"/>
                <a:cs typeface="TT Interphases Bold"/>
                <a:sym typeface="TT Interphases Bold"/>
              </a:rPr>
              <a:t>0.658</a:t>
            </a:r>
            <a:r>
              <a:rPr lang="en-US" sz="2000" spc="-98">
                <a:solidFill>
                  <a:srgbClr val="000000"/>
                </a:solidFill>
                <a:latin typeface="TT Interphases"/>
                <a:ea typeface="TT Interphases"/>
                <a:cs typeface="TT Interphases"/>
                <a:sym typeface="TT Interphases"/>
              </a:rPr>
              <a:t>), indicating limited generalization capability without optimization.</a:t>
            </a:r>
          </a:p>
        </p:txBody>
      </p:sp>
      <p:sp>
        <p:nvSpPr>
          <p:cNvPr name="TextBox 10" id="10"/>
          <p:cNvSpPr txBox="true"/>
          <p:nvPr/>
        </p:nvSpPr>
        <p:spPr>
          <a:xfrm rot="0">
            <a:off x="9602166" y="7289646"/>
            <a:ext cx="7657134" cy="349250"/>
          </a:xfrm>
          <a:prstGeom prst="rect">
            <a:avLst/>
          </a:prstGeom>
        </p:spPr>
        <p:txBody>
          <a:bodyPr anchor="t" rtlCol="false" tIns="0" lIns="0" bIns="0" rIns="0">
            <a:spAutoFit/>
          </a:bodyPr>
          <a:lstStyle/>
          <a:p>
            <a:pPr algn="just">
              <a:lnSpc>
                <a:spcPts val="2800"/>
              </a:lnSpc>
            </a:pPr>
            <a:r>
              <a:rPr lang="en-US" b="true" sz="2000" spc="-98">
                <a:solidFill>
                  <a:srgbClr val="000000"/>
                </a:solidFill>
                <a:latin typeface="TT Interphases Bold"/>
                <a:ea typeface="TT Interphases Bold"/>
                <a:cs typeface="TT Interphases Bold"/>
                <a:sym typeface="TT Interphases Bold"/>
              </a:rPr>
              <a:t>Weak Baseline Model</a:t>
            </a:r>
          </a:p>
        </p:txBody>
      </p:sp>
      <p:sp>
        <p:nvSpPr>
          <p:cNvPr name="TextBox 11" id="11"/>
          <p:cNvSpPr txBox="true"/>
          <p:nvPr/>
        </p:nvSpPr>
        <p:spPr>
          <a:xfrm rot="0">
            <a:off x="1566219" y="1108262"/>
            <a:ext cx="3107964" cy="259461"/>
          </a:xfrm>
          <a:prstGeom prst="rect">
            <a:avLst/>
          </a:prstGeom>
        </p:spPr>
        <p:txBody>
          <a:bodyPr anchor="t" rtlCol="false" tIns="0" lIns="0" bIns="0" rIns="0">
            <a:spAutoFit/>
          </a:bodyPr>
          <a:lstStyle/>
          <a:p>
            <a:pPr algn="l">
              <a:lnSpc>
                <a:spcPts val="1827"/>
              </a:lnSpc>
            </a:pPr>
            <a:r>
              <a:rPr lang="en-US" sz="2100" spc="-102">
                <a:solidFill>
                  <a:srgbClr val="000000"/>
                </a:solidFill>
                <a:latin typeface="TT Interphases"/>
                <a:ea typeface="TT Interphases"/>
                <a:cs typeface="TT Interphases"/>
                <a:sym typeface="TT Interphases"/>
              </a:rPr>
              <a:t>Group 8 of Data Mining LC02</a:t>
            </a:r>
          </a:p>
        </p:txBody>
      </p:sp>
      <p:sp>
        <p:nvSpPr>
          <p:cNvPr name="TextBox 12" id="12"/>
          <p:cNvSpPr txBox="true"/>
          <p:nvPr/>
        </p:nvSpPr>
        <p:spPr>
          <a:xfrm rot="0">
            <a:off x="6697803" y="1003487"/>
            <a:ext cx="10589542" cy="1054100"/>
          </a:xfrm>
          <a:prstGeom prst="rect">
            <a:avLst/>
          </a:prstGeom>
        </p:spPr>
        <p:txBody>
          <a:bodyPr anchor="t" rtlCol="false" tIns="0" lIns="0" bIns="0" rIns="0">
            <a:spAutoFit/>
          </a:bodyPr>
          <a:lstStyle/>
          <a:p>
            <a:pPr algn="just">
              <a:lnSpc>
                <a:spcPts val="2800"/>
              </a:lnSpc>
              <a:spcBef>
                <a:spcPct val="0"/>
              </a:spcBef>
            </a:pPr>
            <a:r>
              <a:rPr lang="en-US" sz="2000" spc="-98">
                <a:solidFill>
                  <a:srgbClr val="000000"/>
                </a:solidFill>
                <a:latin typeface="TT Interphases"/>
                <a:ea typeface="TT Interphases"/>
                <a:cs typeface="TT Interphases"/>
                <a:sym typeface="TT Interphases"/>
              </a:rPr>
              <a:t>The baseline e</a:t>
            </a:r>
            <a:r>
              <a:rPr lang="en-US" sz="2000" spc="-98">
                <a:solidFill>
                  <a:srgbClr val="000000"/>
                </a:solidFill>
                <a:latin typeface="TT Interphases"/>
                <a:ea typeface="TT Interphases"/>
                <a:cs typeface="TT Interphases"/>
                <a:sym typeface="TT Interphases"/>
              </a:rPr>
              <a:t>valuation compares </a:t>
            </a:r>
            <a:r>
              <a:rPr lang="en-US" b="true" sz="2000" spc="-98">
                <a:solidFill>
                  <a:srgbClr val="000000"/>
                </a:solidFill>
                <a:latin typeface="TT Interphases Bold"/>
                <a:ea typeface="TT Interphases Bold"/>
                <a:cs typeface="TT Interphases Bold"/>
                <a:sym typeface="TT Interphases Bold"/>
              </a:rPr>
              <a:t>five data mining classification models</a:t>
            </a:r>
            <a:r>
              <a:rPr lang="en-US" sz="2000" spc="-98">
                <a:solidFill>
                  <a:srgbClr val="000000"/>
                </a:solidFill>
                <a:latin typeface="TT Interphases"/>
                <a:ea typeface="TT Interphases"/>
                <a:cs typeface="TT Interphases"/>
                <a:sym typeface="TT Interphases"/>
              </a:rPr>
              <a:t> using default configurations. Although several models achieve relatively high accuracy, their ability to correctly identify churn customers remains limited due to class imbalance. Therefore, </a:t>
            </a:r>
            <a:r>
              <a:rPr lang="en-US" b="true" sz="2000" spc="-98">
                <a:solidFill>
                  <a:srgbClr val="000000"/>
                </a:solidFill>
                <a:latin typeface="TT Interphases Bold"/>
                <a:ea typeface="TT Interphases Bold"/>
                <a:cs typeface="TT Interphases Bold"/>
                <a:sym typeface="TT Interphases Bold"/>
              </a:rPr>
              <a:t>F1-score</a:t>
            </a:r>
            <a:r>
              <a:rPr lang="en-US" sz="2000" spc="-98">
                <a:solidFill>
                  <a:srgbClr val="000000"/>
                </a:solidFill>
                <a:latin typeface="TT Interphases"/>
                <a:ea typeface="TT Interphases"/>
                <a:cs typeface="TT Interphases"/>
                <a:sym typeface="TT Interphases"/>
              </a:rPr>
              <a:t> and </a:t>
            </a:r>
            <a:r>
              <a:rPr lang="en-US" b="true" sz="2000" spc="-98">
                <a:solidFill>
                  <a:srgbClr val="000000"/>
                </a:solidFill>
                <a:latin typeface="TT Interphases Bold"/>
                <a:ea typeface="TT Interphases Bold"/>
                <a:cs typeface="TT Interphases Bold"/>
                <a:sym typeface="TT Interphases Bold"/>
              </a:rPr>
              <a:t>ROC-AUC</a:t>
            </a:r>
            <a:r>
              <a:rPr lang="en-US" sz="2000" spc="-98">
                <a:solidFill>
                  <a:srgbClr val="000000"/>
                </a:solidFill>
                <a:latin typeface="TT Interphases"/>
                <a:ea typeface="TT Interphases"/>
                <a:cs typeface="TT Interphases"/>
                <a:sym typeface="TT Interphases"/>
              </a:rPr>
              <a:t> are emphasized for evaluation.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2242236" y="7363607"/>
            <a:ext cx="969594" cy="3396666"/>
          </a:xfrm>
          <a:custGeom>
            <a:avLst/>
            <a:gdLst/>
            <a:ahLst/>
            <a:cxnLst/>
            <a:rect r="r" b="b" t="t" l="l"/>
            <a:pathLst>
              <a:path h="3396666" w="969594">
                <a:moveTo>
                  <a:pt x="0" y="0"/>
                </a:moveTo>
                <a:lnTo>
                  <a:pt x="969594" y="0"/>
                </a:lnTo>
                <a:lnTo>
                  <a:pt x="969594" y="3396667"/>
                </a:lnTo>
                <a:lnTo>
                  <a:pt x="0" y="33966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5838981"/>
            <a:ext cx="8456956" cy="2106661"/>
          </a:xfrm>
          <a:custGeom>
            <a:avLst/>
            <a:gdLst/>
            <a:ahLst/>
            <a:cxnLst/>
            <a:rect r="r" b="b" t="t" l="l"/>
            <a:pathLst>
              <a:path h="2106661" w="8456956">
                <a:moveTo>
                  <a:pt x="0" y="0"/>
                </a:moveTo>
                <a:lnTo>
                  <a:pt x="8456956" y="0"/>
                </a:lnTo>
                <a:lnTo>
                  <a:pt x="8456956" y="2106661"/>
                </a:lnTo>
                <a:lnTo>
                  <a:pt x="0" y="2106661"/>
                </a:lnTo>
                <a:lnTo>
                  <a:pt x="0" y="0"/>
                </a:lnTo>
                <a:close/>
              </a:path>
            </a:pathLst>
          </a:custGeom>
          <a:blipFill>
            <a:blip r:embed="rId6"/>
            <a:stretch>
              <a:fillRect l="0" t="0" r="0" b="0"/>
            </a:stretch>
          </a:blipFill>
        </p:spPr>
      </p:sp>
      <p:sp>
        <p:nvSpPr>
          <p:cNvPr name="TextBox 5" id="5"/>
          <p:cNvSpPr txBox="true"/>
          <p:nvPr/>
        </p:nvSpPr>
        <p:spPr>
          <a:xfrm rot="0">
            <a:off x="1028700" y="1972175"/>
            <a:ext cx="16243035" cy="1054610"/>
          </a:xfrm>
          <a:prstGeom prst="rect">
            <a:avLst/>
          </a:prstGeom>
        </p:spPr>
        <p:txBody>
          <a:bodyPr anchor="t" rtlCol="false" tIns="0" lIns="0" bIns="0" rIns="0">
            <a:spAutoFit/>
          </a:bodyPr>
          <a:lstStyle/>
          <a:p>
            <a:pPr algn="l">
              <a:lnSpc>
                <a:spcPts val="7656"/>
              </a:lnSpc>
            </a:pPr>
            <a:r>
              <a:rPr lang="en-US" sz="8800" spc="-431">
                <a:solidFill>
                  <a:srgbClr val="000000"/>
                </a:solidFill>
                <a:latin typeface="TT Interphases"/>
                <a:ea typeface="TT Interphases"/>
                <a:cs typeface="TT Interphases"/>
                <a:sym typeface="TT Interphases"/>
              </a:rPr>
              <a:t>Evaluation (Improved Models)</a:t>
            </a:r>
          </a:p>
        </p:txBody>
      </p:sp>
      <p:sp>
        <p:nvSpPr>
          <p:cNvPr name="TextBox 6" id="6"/>
          <p:cNvSpPr txBox="true"/>
          <p:nvPr/>
        </p:nvSpPr>
        <p:spPr>
          <a:xfrm rot="0">
            <a:off x="1028700" y="3274435"/>
            <a:ext cx="8456956" cy="1553845"/>
          </a:xfrm>
          <a:prstGeom prst="rect">
            <a:avLst/>
          </a:prstGeom>
        </p:spPr>
        <p:txBody>
          <a:bodyPr anchor="t" rtlCol="false" tIns="0" lIns="0" bIns="0" rIns="0">
            <a:spAutoFit/>
          </a:bodyPr>
          <a:lstStyle/>
          <a:p>
            <a:pPr algn="just">
              <a:lnSpc>
                <a:spcPts val="3079"/>
              </a:lnSpc>
            </a:pPr>
            <a:r>
              <a:rPr lang="en-US" sz="2199" spc="-107">
                <a:solidFill>
                  <a:srgbClr val="000000"/>
                </a:solidFill>
                <a:latin typeface="TT Interphases"/>
                <a:ea typeface="TT Interphases"/>
                <a:cs typeface="TT Interphases"/>
                <a:sym typeface="TT Interphases"/>
              </a:rPr>
              <a:t>After applying model-specific optimization techniques, all five models demonstrate improved balance between precision and recall. Performance gains are most evident in ensemble-based approaches, particularly when evaluated using F1-score and ROC-AUC.</a:t>
            </a:r>
          </a:p>
        </p:txBody>
      </p:sp>
      <p:sp>
        <p:nvSpPr>
          <p:cNvPr name="TextBox 7" id="7"/>
          <p:cNvSpPr txBox="true"/>
          <p:nvPr/>
        </p:nvSpPr>
        <p:spPr>
          <a:xfrm rot="0">
            <a:off x="1566219" y="1108262"/>
            <a:ext cx="3107964" cy="259461"/>
          </a:xfrm>
          <a:prstGeom prst="rect">
            <a:avLst/>
          </a:prstGeom>
        </p:spPr>
        <p:txBody>
          <a:bodyPr anchor="t" rtlCol="false" tIns="0" lIns="0" bIns="0" rIns="0">
            <a:spAutoFit/>
          </a:bodyPr>
          <a:lstStyle/>
          <a:p>
            <a:pPr algn="l">
              <a:lnSpc>
                <a:spcPts val="1827"/>
              </a:lnSpc>
            </a:pPr>
            <a:r>
              <a:rPr lang="en-US" sz="2100" spc="-102">
                <a:solidFill>
                  <a:srgbClr val="000000"/>
                </a:solidFill>
                <a:latin typeface="TT Interphases"/>
                <a:ea typeface="TT Interphases"/>
                <a:cs typeface="TT Interphases"/>
                <a:sym typeface="TT Interphases"/>
              </a:rPr>
              <a:t>Group 8 of Data Mining LC02</a:t>
            </a:r>
          </a:p>
        </p:txBody>
      </p:sp>
      <p:sp>
        <p:nvSpPr>
          <p:cNvPr name="TextBox 8" id="8"/>
          <p:cNvSpPr txBox="true"/>
          <p:nvPr/>
        </p:nvSpPr>
        <p:spPr>
          <a:xfrm rot="0">
            <a:off x="10051061" y="3713319"/>
            <a:ext cx="7207451" cy="1406525"/>
          </a:xfrm>
          <a:prstGeom prst="rect">
            <a:avLst/>
          </a:prstGeom>
        </p:spPr>
        <p:txBody>
          <a:bodyPr anchor="t" rtlCol="false" tIns="0" lIns="0" bIns="0" rIns="0">
            <a:spAutoFit/>
          </a:bodyPr>
          <a:lstStyle/>
          <a:p>
            <a:pPr algn="just">
              <a:lnSpc>
                <a:spcPts val="2800"/>
              </a:lnSpc>
            </a:pPr>
            <a:r>
              <a:rPr lang="en-US" sz="2000" spc="-98">
                <a:solidFill>
                  <a:srgbClr val="000000"/>
                </a:solidFill>
                <a:latin typeface="TT Interphases"/>
                <a:ea typeface="TT Interphases"/>
                <a:cs typeface="TT Interphases"/>
                <a:sym typeface="TT Interphases"/>
              </a:rPr>
              <a:t>Random Forest achieves the highest F1-score (</a:t>
            </a:r>
            <a:r>
              <a:rPr lang="en-US" b="true" sz="2000" spc="-98">
                <a:solidFill>
                  <a:srgbClr val="000000"/>
                </a:solidFill>
                <a:latin typeface="TT Interphases Bold"/>
                <a:ea typeface="TT Interphases Bold"/>
                <a:cs typeface="TT Interphases Bold"/>
                <a:sym typeface="TT Interphases Bold"/>
              </a:rPr>
              <a:t>0.648</a:t>
            </a:r>
            <a:r>
              <a:rPr lang="en-US" sz="2000" spc="-98">
                <a:solidFill>
                  <a:srgbClr val="000000"/>
                </a:solidFill>
                <a:latin typeface="TT Interphases"/>
                <a:ea typeface="TT Interphases"/>
                <a:cs typeface="TT Interphases"/>
                <a:sym typeface="TT Interphases"/>
              </a:rPr>
              <a:t>) after tuning and class balancing. Recall increases significantly to </a:t>
            </a:r>
            <a:r>
              <a:rPr lang="en-US" b="true" sz="2000" spc="-98">
                <a:solidFill>
                  <a:srgbClr val="000000"/>
                </a:solidFill>
                <a:latin typeface="TT Interphases Bold"/>
                <a:ea typeface="TT Interphases Bold"/>
                <a:cs typeface="TT Interphases Bold"/>
                <a:sym typeface="TT Interphases Bold"/>
              </a:rPr>
              <a:t>0.804</a:t>
            </a:r>
            <a:r>
              <a:rPr lang="en-US" sz="2000" spc="-98">
                <a:solidFill>
                  <a:srgbClr val="000000"/>
                </a:solidFill>
                <a:latin typeface="TT Interphases"/>
                <a:ea typeface="TT Interphases"/>
                <a:cs typeface="TT Interphases"/>
                <a:sym typeface="TT Interphases"/>
              </a:rPr>
              <a:t>, confirming improved churn detection, while ROC-AUC (</a:t>
            </a:r>
            <a:r>
              <a:rPr lang="en-US" b="true" sz="2000" spc="-98">
                <a:solidFill>
                  <a:srgbClr val="000000"/>
                </a:solidFill>
                <a:latin typeface="TT Interphases Bold"/>
                <a:ea typeface="TT Interphases Bold"/>
                <a:cs typeface="TT Interphases Bold"/>
                <a:sym typeface="TT Interphases Bold"/>
              </a:rPr>
              <a:t>0.842</a:t>
            </a:r>
            <a:r>
              <a:rPr lang="en-US" sz="2000" spc="-98">
                <a:solidFill>
                  <a:srgbClr val="000000"/>
                </a:solidFill>
                <a:latin typeface="TT Interphases"/>
                <a:ea typeface="TT Interphases"/>
                <a:cs typeface="TT Interphases"/>
                <a:sym typeface="TT Interphases"/>
              </a:rPr>
              <a:t>) indicates strong overall discrimination.</a:t>
            </a:r>
          </a:p>
        </p:txBody>
      </p:sp>
      <p:sp>
        <p:nvSpPr>
          <p:cNvPr name="TextBox 9" id="9"/>
          <p:cNvSpPr txBox="true"/>
          <p:nvPr/>
        </p:nvSpPr>
        <p:spPr>
          <a:xfrm rot="0">
            <a:off x="10051061" y="3225484"/>
            <a:ext cx="7194228" cy="349250"/>
          </a:xfrm>
          <a:prstGeom prst="rect">
            <a:avLst/>
          </a:prstGeom>
        </p:spPr>
        <p:txBody>
          <a:bodyPr anchor="t" rtlCol="false" tIns="0" lIns="0" bIns="0" rIns="0">
            <a:spAutoFit/>
          </a:bodyPr>
          <a:lstStyle/>
          <a:p>
            <a:pPr algn="just">
              <a:lnSpc>
                <a:spcPts val="2800"/>
              </a:lnSpc>
            </a:pPr>
            <a:r>
              <a:rPr lang="en-US" b="true" sz="2000" spc="-98">
                <a:solidFill>
                  <a:srgbClr val="000000"/>
                </a:solidFill>
                <a:latin typeface="TT Interphases Bold"/>
                <a:ea typeface="TT Interphases Bold"/>
                <a:cs typeface="TT Interphases Bold"/>
                <a:sym typeface="TT Interphases Bold"/>
              </a:rPr>
              <a:t>Random Forest Improvement</a:t>
            </a:r>
          </a:p>
        </p:txBody>
      </p:sp>
      <p:sp>
        <p:nvSpPr>
          <p:cNvPr name="TextBox 10" id="10"/>
          <p:cNvSpPr txBox="true"/>
          <p:nvPr/>
        </p:nvSpPr>
        <p:spPr>
          <a:xfrm rot="0">
            <a:off x="10051061" y="5807703"/>
            <a:ext cx="7220675" cy="1406525"/>
          </a:xfrm>
          <a:prstGeom prst="rect">
            <a:avLst/>
          </a:prstGeom>
        </p:spPr>
        <p:txBody>
          <a:bodyPr anchor="t" rtlCol="false" tIns="0" lIns="0" bIns="0" rIns="0">
            <a:spAutoFit/>
          </a:bodyPr>
          <a:lstStyle/>
          <a:p>
            <a:pPr algn="just">
              <a:lnSpc>
                <a:spcPts val="2800"/>
              </a:lnSpc>
            </a:pPr>
            <a:r>
              <a:rPr lang="en-US" sz="2000" spc="-98">
                <a:solidFill>
                  <a:srgbClr val="000000"/>
                </a:solidFill>
                <a:latin typeface="TT Interphases"/>
                <a:ea typeface="TT Interphases"/>
                <a:cs typeface="TT Interphases"/>
                <a:sym typeface="TT Interphases"/>
              </a:rPr>
              <a:t>XGBoost records the highest ROC-AUC (</a:t>
            </a:r>
            <a:r>
              <a:rPr lang="en-US" b="true" sz="2000" spc="-98">
                <a:solidFill>
                  <a:srgbClr val="000000"/>
                </a:solidFill>
                <a:latin typeface="TT Interphases Bold"/>
                <a:ea typeface="TT Interphases Bold"/>
                <a:cs typeface="TT Interphases Bold"/>
                <a:sym typeface="TT Interphases Bold"/>
              </a:rPr>
              <a:t>0.844</a:t>
            </a:r>
            <a:r>
              <a:rPr lang="en-US" sz="2000" spc="-98">
                <a:solidFill>
                  <a:srgbClr val="000000"/>
                </a:solidFill>
                <a:latin typeface="TT Interphases"/>
                <a:ea typeface="TT Interphases"/>
                <a:cs typeface="TT Interphases"/>
                <a:sym typeface="TT Interphases"/>
              </a:rPr>
              <a:t>), demonstrating superior ranking capability. Its improved F1-score (</a:t>
            </a:r>
            <a:r>
              <a:rPr lang="en-US" b="true" sz="2000" spc="-98">
                <a:solidFill>
                  <a:srgbClr val="000000"/>
                </a:solidFill>
                <a:latin typeface="TT Interphases Bold"/>
                <a:ea typeface="TT Interphases Bold"/>
                <a:cs typeface="TT Interphases Bold"/>
                <a:sym typeface="TT Interphases Bold"/>
              </a:rPr>
              <a:t>0.642</a:t>
            </a:r>
            <a:r>
              <a:rPr lang="en-US" sz="2000" spc="-98">
                <a:solidFill>
                  <a:srgbClr val="000000"/>
                </a:solidFill>
                <a:latin typeface="TT Interphases"/>
                <a:ea typeface="TT Interphases"/>
                <a:cs typeface="TT Interphases"/>
                <a:sym typeface="TT Interphases"/>
              </a:rPr>
              <a:t>) reflects better balance between precision (</a:t>
            </a:r>
            <a:r>
              <a:rPr lang="en-US" b="true" sz="2000" spc="-98">
                <a:solidFill>
                  <a:srgbClr val="000000"/>
                </a:solidFill>
                <a:latin typeface="TT Interphases Bold"/>
                <a:ea typeface="TT Interphases Bold"/>
                <a:cs typeface="TT Interphases Bold"/>
                <a:sym typeface="TT Interphases Bold"/>
              </a:rPr>
              <a:t>0.554</a:t>
            </a:r>
            <a:r>
              <a:rPr lang="en-US" sz="2000" spc="-98">
                <a:solidFill>
                  <a:srgbClr val="000000"/>
                </a:solidFill>
                <a:latin typeface="TT Interphases"/>
                <a:ea typeface="TT Interphases"/>
                <a:cs typeface="TT Interphases"/>
                <a:sym typeface="TT Interphases"/>
              </a:rPr>
              <a:t>) and recall (</a:t>
            </a:r>
            <a:r>
              <a:rPr lang="en-US" b="true" sz="2000" spc="-98">
                <a:solidFill>
                  <a:srgbClr val="000000"/>
                </a:solidFill>
                <a:latin typeface="TT Interphases Bold"/>
                <a:ea typeface="TT Interphases Bold"/>
                <a:cs typeface="TT Interphases Bold"/>
                <a:sym typeface="TT Interphases Bold"/>
              </a:rPr>
              <a:t>0.763</a:t>
            </a:r>
            <a:r>
              <a:rPr lang="en-US" sz="2000" spc="-98">
                <a:solidFill>
                  <a:srgbClr val="000000"/>
                </a:solidFill>
                <a:latin typeface="TT Interphases"/>
                <a:ea typeface="TT Interphases"/>
                <a:cs typeface="TT Interphases"/>
                <a:sym typeface="TT Interphases"/>
              </a:rPr>
              <a:t>) compared to baseline performance.</a:t>
            </a:r>
          </a:p>
        </p:txBody>
      </p:sp>
      <p:sp>
        <p:nvSpPr>
          <p:cNvPr name="TextBox 11" id="11"/>
          <p:cNvSpPr txBox="true"/>
          <p:nvPr/>
        </p:nvSpPr>
        <p:spPr>
          <a:xfrm rot="0">
            <a:off x="10051061" y="5319869"/>
            <a:ext cx="7220675" cy="349250"/>
          </a:xfrm>
          <a:prstGeom prst="rect">
            <a:avLst/>
          </a:prstGeom>
        </p:spPr>
        <p:txBody>
          <a:bodyPr anchor="t" rtlCol="false" tIns="0" lIns="0" bIns="0" rIns="0">
            <a:spAutoFit/>
          </a:bodyPr>
          <a:lstStyle/>
          <a:p>
            <a:pPr algn="just">
              <a:lnSpc>
                <a:spcPts val="2800"/>
              </a:lnSpc>
            </a:pPr>
            <a:r>
              <a:rPr lang="en-US" b="true" sz="2000" spc="-98">
                <a:solidFill>
                  <a:srgbClr val="000000"/>
                </a:solidFill>
                <a:latin typeface="TT Interphases Bold"/>
                <a:ea typeface="TT Interphases Bold"/>
                <a:cs typeface="TT Interphases Bold"/>
                <a:sym typeface="TT Interphases Bold"/>
              </a:rPr>
              <a:t>XGBoost Improvement</a:t>
            </a:r>
          </a:p>
        </p:txBody>
      </p:sp>
      <p:sp>
        <p:nvSpPr>
          <p:cNvPr name="TextBox 12" id="12"/>
          <p:cNvSpPr txBox="true"/>
          <p:nvPr/>
        </p:nvSpPr>
        <p:spPr>
          <a:xfrm rot="0">
            <a:off x="10051061" y="7963528"/>
            <a:ext cx="7233898" cy="1758950"/>
          </a:xfrm>
          <a:prstGeom prst="rect">
            <a:avLst/>
          </a:prstGeom>
        </p:spPr>
        <p:txBody>
          <a:bodyPr anchor="t" rtlCol="false" tIns="0" lIns="0" bIns="0" rIns="0">
            <a:spAutoFit/>
          </a:bodyPr>
          <a:lstStyle/>
          <a:p>
            <a:pPr algn="just">
              <a:lnSpc>
                <a:spcPts val="2800"/>
              </a:lnSpc>
            </a:pPr>
            <a:r>
              <a:rPr lang="en-US" sz="2000" spc="-98">
                <a:solidFill>
                  <a:srgbClr val="000000"/>
                </a:solidFill>
                <a:latin typeface="TT Interphases"/>
                <a:ea typeface="TT Interphases"/>
                <a:cs typeface="TT Interphases"/>
                <a:sym typeface="TT Interphases"/>
              </a:rPr>
              <a:t>Logistic Regression, Decision Tree, and Support Vector Machine also show measurable improvements. Logistic Regression reaches an F1-score of </a:t>
            </a:r>
            <a:r>
              <a:rPr lang="en-US" b="true" sz="2000" spc="-98">
                <a:solidFill>
                  <a:srgbClr val="000000"/>
                </a:solidFill>
                <a:latin typeface="TT Interphases Bold"/>
                <a:ea typeface="TT Interphases Bold"/>
                <a:cs typeface="TT Interphases Bold"/>
                <a:sym typeface="TT Interphases Bold"/>
              </a:rPr>
              <a:t>0.638</a:t>
            </a:r>
            <a:r>
              <a:rPr lang="en-US" sz="2000" spc="-98">
                <a:solidFill>
                  <a:srgbClr val="000000"/>
                </a:solidFill>
                <a:latin typeface="TT Interphases"/>
                <a:ea typeface="TT Interphases"/>
                <a:cs typeface="TT Interphases"/>
                <a:sym typeface="TT Interphases"/>
              </a:rPr>
              <a:t>, while Decision Tree achieves the highest accuracy (</a:t>
            </a:r>
            <a:r>
              <a:rPr lang="en-US" b="true" sz="2000" spc="-98">
                <a:solidFill>
                  <a:srgbClr val="000000"/>
                </a:solidFill>
                <a:latin typeface="TT Interphases Bold"/>
                <a:ea typeface="TT Interphases Bold"/>
                <a:cs typeface="TT Interphases Bold"/>
                <a:sym typeface="TT Interphases Bold"/>
              </a:rPr>
              <a:t>0.794</a:t>
            </a:r>
            <a:r>
              <a:rPr lang="en-US" sz="2000" spc="-98">
                <a:solidFill>
                  <a:srgbClr val="000000"/>
                </a:solidFill>
                <a:latin typeface="TT Interphases"/>
                <a:ea typeface="TT Interphases"/>
                <a:cs typeface="TT Interphases"/>
                <a:sym typeface="TT Interphases"/>
              </a:rPr>
              <a:t>) after optimization. SVM improves stability but remains below ensemble models in overall performance.</a:t>
            </a:r>
          </a:p>
        </p:txBody>
      </p:sp>
      <p:sp>
        <p:nvSpPr>
          <p:cNvPr name="TextBox 13" id="13"/>
          <p:cNvSpPr txBox="true"/>
          <p:nvPr/>
        </p:nvSpPr>
        <p:spPr>
          <a:xfrm rot="0">
            <a:off x="10024614" y="7414253"/>
            <a:ext cx="7220675" cy="349250"/>
          </a:xfrm>
          <a:prstGeom prst="rect">
            <a:avLst/>
          </a:prstGeom>
        </p:spPr>
        <p:txBody>
          <a:bodyPr anchor="t" rtlCol="false" tIns="0" lIns="0" bIns="0" rIns="0">
            <a:spAutoFit/>
          </a:bodyPr>
          <a:lstStyle/>
          <a:p>
            <a:pPr algn="just">
              <a:lnSpc>
                <a:spcPts val="2800"/>
              </a:lnSpc>
            </a:pPr>
            <a:r>
              <a:rPr lang="en-US" b="true" sz="2000" spc="-98">
                <a:solidFill>
                  <a:srgbClr val="000000"/>
                </a:solidFill>
                <a:latin typeface="TT Interphases Bold"/>
                <a:ea typeface="TT Interphases Bold"/>
                <a:cs typeface="TT Interphases Bold"/>
                <a:sym typeface="TT Interphases Bold"/>
              </a:rPr>
              <a:t>Improvements in Other Models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417496" y="2873311"/>
            <a:ext cx="6841804" cy="5174892"/>
          </a:xfrm>
          <a:custGeom>
            <a:avLst/>
            <a:gdLst/>
            <a:ahLst/>
            <a:cxnLst/>
            <a:rect r="r" b="b" t="t" l="l"/>
            <a:pathLst>
              <a:path h="5174892" w="6841804">
                <a:moveTo>
                  <a:pt x="0" y="0"/>
                </a:moveTo>
                <a:lnTo>
                  <a:pt x="6841804" y="0"/>
                </a:lnTo>
                <a:lnTo>
                  <a:pt x="6841804" y="5174891"/>
                </a:lnTo>
                <a:lnTo>
                  <a:pt x="0" y="51748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184944" y="2187827"/>
            <a:ext cx="6978478" cy="1054610"/>
          </a:xfrm>
          <a:prstGeom prst="rect">
            <a:avLst/>
          </a:prstGeom>
        </p:spPr>
        <p:txBody>
          <a:bodyPr anchor="t" rtlCol="false" tIns="0" lIns="0" bIns="0" rIns="0">
            <a:spAutoFit/>
          </a:bodyPr>
          <a:lstStyle/>
          <a:p>
            <a:pPr algn="l">
              <a:lnSpc>
                <a:spcPts val="7656"/>
              </a:lnSpc>
            </a:pPr>
            <a:r>
              <a:rPr lang="en-US" sz="8800" spc="-431">
                <a:solidFill>
                  <a:srgbClr val="000000"/>
                </a:solidFill>
                <a:latin typeface="TT Interphases"/>
                <a:ea typeface="TT Interphases"/>
                <a:cs typeface="TT Interphases"/>
                <a:sym typeface="TT Interphases"/>
              </a:rPr>
              <a:t>Conclusion</a:t>
            </a:r>
          </a:p>
        </p:txBody>
      </p:sp>
      <p:sp>
        <p:nvSpPr>
          <p:cNvPr name="TextBox 5" id="5"/>
          <p:cNvSpPr txBox="true"/>
          <p:nvPr/>
        </p:nvSpPr>
        <p:spPr>
          <a:xfrm rot="0">
            <a:off x="1184944" y="4058931"/>
            <a:ext cx="8551581" cy="2223135"/>
          </a:xfrm>
          <a:prstGeom prst="rect">
            <a:avLst/>
          </a:prstGeom>
        </p:spPr>
        <p:txBody>
          <a:bodyPr anchor="t" rtlCol="false" tIns="0" lIns="0" bIns="0" rIns="0">
            <a:spAutoFit/>
          </a:bodyPr>
          <a:lstStyle/>
          <a:p>
            <a:pPr algn="just">
              <a:lnSpc>
                <a:spcPts val="2940"/>
              </a:lnSpc>
            </a:pPr>
            <a:r>
              <a:rPr lang="en-US" sz="2100" spc="-102">
                <a:solidFill>
                  <a:srgbClr val="000000"/>
                </a:solidFill>
                <a:latin typeface="TT Interphases"/>
                <a:ea typeface="TT Interphases"/>
                <a:cs typeface="TT Interphases"/>
                <a:sym typeface="TT Interphases"/>
              </a:rPr>
              <a:t>This study demonstrates the effectiveness of data mining techniques in predicting customer churn using real-world telecommunication data. Through systematic comparison and improvement of five classification models, ensemble-based approaches such as Random Forest and XGBoost achieved the strongest overall performance, particularly when evaluated using F1-score and ROC-AUC.</a:t>
            </a:r>
          </a:p>
        </p:txBody>
      </p:sp>
      <p:sp>
        <p:nvSpPr>
          <p:cNvPr name="TextBox 6" id="6"/>
          <p:cNvSpPr txBox="true"/>
          <p:nvPr/>
        </p:nvSpPr>
        <p:spPr>
          <a:xfrm rot="0">
            <a:off x="1184944" y="7098560"/>
            <a:ext cx="8551581" cy="1480185"/>
          </a:xfrm>
          <a:prstGeom prst="rect">
            <a:avLst/>
          </a:prstGeom>
        </p:spPr>
        <p:txBody>
          <a:bodyPr anchor="t" rtlCol="false" tIns="0" lIns="0" bIns="0" rIns="0">
            <a:spAutoFit/>
          </a:bodyPr>
          <a:lstStyle/>
          <a:p>
            <a:pPr algn="just">
              <a:lnSpc>
                <a:spcPts val="2940"/>
              </a:lnSpc>
            </a:pPr>
            <a:r>
              <a:rPr lang="en-US" sz="2100" spc="-102">
                <a:solidFill>
                  <a:srgbClr val="000000"/>
                </a:solidFill>
                <a:latin typeface="TT Interphases"/>
                <a:ea typeface="TT Interphases"/>
                <a:cs typeface="TT Interphases"/>
                <a:sym typeface="TT Interphases"/>
              </a:rPr>
              <a:t>The results highlight the importance of selecting appropriate evaluation metrics and applying targeted optimization strategies when working with imbalanced datasets. Overall, this project confirms that well-designed data mining models can provide valuable insights to support customer retention decisions.</a:t>
            </a:r>
          </a:p>
        </p:txBody>
      </p:sp>
      <p:sp>
        <p:nvSpPr>
          <p:cNvPr name="TextBox 7" id="7"/>
          <p:cNvSpPr txBox="true"/>
          <p:nvPr/>
        </p:nvSpPr>
        <p:spPr>
          <a:xfrm rot="0">
            <a:off x="1566219" y="1108262"/>
            <a:ext cx="3107964" cy="259461"/>
          </a:xfrm>
          <a:prstGeom prst="rect">
            <a:avLst/>
          </a:prstGeom>
        </p:spPr>
        <p:txBody>
          <a:bodyPr anchor="t" rtlCol="false" tIns="0" lIns="0" bIns="0" rIns="0">
            <a:spAutoFit/>
          </a:bodyPr>
          <a:lstStyle/>
          <a:p>
            <a:pPr algn="l">
              <a:lnSpc>
                <a:spcPts val="1827"/>
              </a:lnSpc>
            </a:pPr>
            <a:r>
              <a:rPr lang="en-US" sz="2100" spc="-102">
                <a:solidFill>
                  <a:srgbClr val="000000"/>
                </a:solidFill>
                <a:latin typeface="TT Interphases"/>
                <a:ea typeface="TT Interphases"/>
                <a:cs typeface="TT Interphases"/>
                <a:sym typeface="TT Interphases"/>
              </a:rPr>
              <a:t>Group 8 of Data Mining LC02</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999665" y="1028700"/>
            <a:ext cx="8259635" cy="8229600"/>
          </a:xfrm>
          <a:custGeom>
            <a:avLst/>
            <a:gdLst/>
            <a:ahLst/>
            <a:cxnLst/>
            <a:rect r="r" b="b" t="t" l="l"/>
            <a:pathLst>
              <a:path h="8229600" w="8259635">
                <a:moveTo>
                  <a:pt x="0" y="0"/>
                </a:moveTo>
                <a:lnTo>
                  <a:pt x="8259635" y="0"/>
                </a:lnTo>
                <a:lnTo>
                  <a:pt x="8259635" y="8229600"/>
                </a:lnTo>
                <a:lnTo>
                  <a:pt x="0" y="82296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4000357"/>
            <a:ext cx="8332616" cy="1745348"/>
          </a:xfrm>
          <a:prstGeom prst="rect">
            <a:avLst/>
          </a:prstGeom>
        </p:spPr>
        <p:txBody>
          <a:bodyPr anchor="t" rtlCol="false" tIns="0" lIns="0" bIns="0" rIns="0">
            <a:spAutoFit/>
          </a:bodyPr>
          <a:lstStyle/>
          <a:p>
            <a:pPr algn="l">
              <a:lnSpc>
                <a:spcPts val="12524"/>
              </a:lnSpc>
            </a:pPr>
            <a:r>
              <a:rPr lang="en-US" sz="14395" spc="-705">
                <a:solidFill>
                  <a:srgbClr val="000000"/>
                </a:solidFill>
                <a:latin typeface="TT Interphases"/>
                <a:ea typeface="TT Interphases"/>
                <a:cs typeface="TT Interphases"/>
                <a:sym typeface="TT Interphases"/>
              </a:rPr>
              <a:t>Thank You</a:t>
            </a:r>
          </a:p>
        </p:txBody>
      </p:sp>
      <p:sp>
        <p:nvSpPr>
          <p:cNvPr name="TextBox 5" id="5"/>
          <p:cNvSpPr txBox="true"/>
          <p:nvPr/>
        </p:nvSpPr>
        <p:spPr>
          <a:xfrm rot="0">
            <a:off x="1566219" y="1108262"/>
            <a:ext cx="3107964" cy="259461"/>
          </a:xfrm>
          <a:prstGeom prst="rect">
            <a:avLst/>
          </a:prstGeom>
        </p:spPr>
        <p:txBody>
          <a:bodyPr anchor="t" rtlCol="false" tIns="0" lIns="0" bIns="0" rIns="0">
            <a:spAutoFit/>
          </a:bodyPr>
          <a:lstStyle/>
          <a:p>
            <a:pPr algn="l">
              <a:lnSpc>
                <a:spcPts val="1827"/>
              </a:lnSpc>
            </a:pPr>
            <a:r>
              <a:rPr lang="en-US" sz="2100" spc="-102">
                <a:solidFill>
                  <a:srgbClr val="000000"/>
                </a:solidFill>
                <a:latin typeface="TT Interphases"/>
                <a:ea typeface="TT Interphases"/>
                <a:cs typeface="TT Interphases"/>
                <a:sym typeface="TT Interphases"/>
              </a:rPr>
              <a:t>Group 8 of Data Mining LC02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DAG8JIm9EEM</dc:identifier>
  <dcterms:modified xsi:type="dcterms:W3CDTF">2011-08-01T06:04:30Z</dcterms:modified>
  <cp:revision>1</cp:revision>
  <dc:title>Group 8 Data Mining</dc:title>
</cp:coreProperties>
</file>